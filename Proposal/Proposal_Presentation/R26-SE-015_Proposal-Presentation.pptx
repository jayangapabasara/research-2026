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62" r:id="rId3"/>
    <p:sldId id="286" r:id="rId4"/>
    <p:sldId id="263" r:id="rId5"/>
    <p:sldId id="264" r:id="rId6"/>
    <p:sldId id="265" r:id="rId7"/>
    <p:sldId id="266" r:id="rId8"/>
    <p:sldId id="261" r:id="rId9"/>
    <p:sldId id="257" r:id="rId10"/>
    <p:sldId id="258" r:id="rId11"/>
    <p:sldId id="259" r:id="rId12"/>
    <p:sldId id="260" r:id="rId13"/>
    <p:sldId id="278" r:id="rId14"/>
    <p:sldId id="279" r:id="rId15"/>
    <p:sldId id="280" r:id="rId16"/>
    <p:sldId id="281" r:id="rId17"/>
    <p:sldId id="282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83" r:id="rId30"/>
    <p:sldId id="284" r:id="rId31"/>
    <p:sldId id="285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385C29BB-88FC-4058-8528-1432163F18C9}">
          <p14:sldIdLst>
            <p14:sldId id="256"/>
            <p14:sldId id="262"/>
            <p14:sldId id="286"/>
            <p14:sldId id="263"/>
            <p14:sldId id="264"/>
            <p14:sldId id="265"/>
            <p14:sldId id="266"/>
            <p14:sldId id="261"/>
            <p14:sldId id="257"/>
            <p14:sldId id="258"/>
            <p14:sldId id="259"/>
            <p14:sldId id="260"/>
            <p14:sldId id="278"/>
            <p14:sldId id="279"/>
            <p14:sldId id="280"/>
            <p14:sldId id="281"/>
            <p14:sldId id="282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83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AC0D"/>
    <a:srgbClr val="1B4332"/>
    <a:srgbClr val="2D6A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28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1309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8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f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29.jpg"/><Relationship Id="rId4" Type="http://schemas.openxmlformats.org/officeDocument/2006/relationships/image" Target="../media/image3.png"/><Relationship Id="rId9" Type="http://schemas.openxmlformats.org/officeDocument/2006/relationships/image" Target="../media/image2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683232"/>
            <a:ext cx="9144000" cy="3714750"/>
          </a:xfrm>
          <a:custGeom>
            <a:avLst/>
            <a:gdLst/>
            <a:ahLst/>
            <a:cxnLst/>
            <a:rect l="l" t="t" r="r" b="b"/>
            <a:pathLst>
              <a:path w="18288000" h="7429500">
                <a:moveTo>
                  <a:pt x="0" y="0"/>
                </a:moveTo>
                <a:lnTo>
                  <a:pt x="18288000" y="0"/>
                </a:lnTo>
                <a:lnTo>
                  <a:pt x="18288000" y="7429500"/>
                </a:lnTo>
                <a:lnTo>
                  <a:pt x="0" y="7429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900" dirty="0"/>
          </a:p>
        </p:txBody>
      </p:sp>
      <p:sp>
        <p:nvSpPr>
          <p:cNvPr id="3" name="Freeform 3"/>
          <p:cNvSpPr/>
          <p:nvPr/>
        </p:nvSpPr>
        <p:spPr>
          <a:xfrm flipV="1">
            <a:off x="6563627" y="-702483"/>
            <a:ext cx="2580373" cy="2818295"/>
          </a:xfrm>
          <a:custGeom>
            <a:avLst/>
            <a:gdLst/>
            <a:ahLst/>
            <a:cxnLst/>
            <a:rect l="l" t="t" r="r" b="b"/>
            <a:pathLst>
              <a:path w="3601452" h="3520419">
                <a:moveTo>
                  <a:pt x="0" y="3520419"/>
                </a:moveTo>
                <a:lnTo>
                  <a:pt x="3601452" y="3520419"/>
                </a:lnTo>
                <a:lnTo>
                  <a:pt x="3601452" y="0"/>
                </a:lnTo>
                <a:lnTo>
                  <a:pt x="0" y="0"/>
                </a:lnTo>
                <a:lnTo>
                  <a:pt x="0" y="352041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900" dirty="0"/>
          </a:p>
        </p:txBody>
      </p:sp>
      <p:sp>
        <p:nvSpPr>
          <p:cNvPr id="4" name="Freeform 4"/>
          <p:cNvSpPr/>
          <p:nvPr/>
        </p:nvSpPr>
        <p:spPr>
          <a:xfrm>
            <a:off x="3663065" y="-1177295"/>
            <a:ext cx="2115579" cy="2057400"/>
          </a:xfrm>
          <a:custGeom>
            <a:avLst/>
            <a:gdLst/>
            <a:ahLst/>
            <a:cxnLst/>
            <a:rect l="l" t="t" r="r" b="b"/>
            <a:pathLst>
              <a:path w="4231157" h="4114800">
                <a:moveTo>
                  <a:pt x="0" y="0"/>
                </a:moveTo>
                <a:lnTo>
                  <a:pt x="4231157" y="0"/>
                </a:lnTo>
                <a:lnTo>
                  <a:pt x="42311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grpSp>
        <p:nvGrpSpPr>
          <p:cNvPr id="5" name="Group 5"/>
          <p:cNvGrpSpPr/>
          <p:nvPr/>
        </p:nvGrpSpPr>
        <p:grpSpPr>
          <a:xfrm>
            <a:off x="4312453" y="3312346"/>
            <a:ext cx="5442417" cy="544241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823"/>
            </a:solidFill>
          </p:spPr>
          <p:txBody>
            <a:bodyPr/>
            <a:lstStyle/>
            <a:p>
              <a:endParaRPr lang="en-US" sz="9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900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42014" y="4474834"/>
            <a:ext cx="2395308" cy="411936"/>
            <a:chOff x="0" y="0"/>
            <a:chExt cx="1699581" cy="21698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99581" cy="216987"/>
            </a:xfrm>
            <a:custGeom>
              <a:avLst/>
              <a:gdLst/>
              <a:ahLst/>
              <a:cxnLst/>
              <a:rect l="l" t="t" r="r" b="b"/>
              <a:pathLst>
                <a:path w="1699581" h="216987">
                  <a:moveTo>
                    <a:pt x="108493" y="0"/>
                  </a:moveTo>
                  <a:lnTo>
                    <a:pt x="1591087" y="0"/>
                  </a:lnTo>
                  <a:cubicBezTo>
                    <a:pt x="1651006" y="0"/>
                    <a:pt x="1699581" y="48574"/>
                    <a:pt x="1699581" y="108493"/>
                  </a:cubicBezTo>
                  <a:lnTo>
                    <a:pt x="1699581" y="108493"/>
                  </a:lnTo>
                  <a:cubicBezTo>
                    <a:pt x="1699581" y="137268"/>
                    <a:pt x="1688150" y="164863"/>
                    <a:pt x="1667804" y="185210"/>
                  </a:cubicBezTo>
                  <a:cubicBezTo>
                    <a:pt x="1647457" y="205556"/>
                    <a:pt x="1619861" y="216987"/>
                    <a:pt x="1591087" y="216987"/>
                  </a:cubicBezTo>
                  <a:lnTo>
                    <a:pt x="108493" y="216987"/>
                  </a:lnTo>
                  <a:cubicBezTo>
                    <a:pt x="48574" y="216987"/>
                    <a:pt x="0" y="168413"/>
                    <a:pt x="0" y="108493"/>
                  </a:cubicBezTo>
                  <a:lnTo>
                    <a:pt x="0" y="108493"/>
                  </a:lnTo>
                  <a:cubicBezTo>
                    <a:pt x="0" y="48574"/>
                    <a:pt x="48574" y="0"/>
                    <a:pt x="108493" y="0"/>
                  </a:cubicBezTo>
                  <a:close/>
                </a:path>
              </a:pathLst>
            </a:custGeom>
            <a:solidFill>
              <a:srgbClr val="FFB823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 sz="900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699581" cy="255087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90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42014" y="1172020"/>
            <a:ext cx="4959049" cy="3126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51"/>
              </a:lnSpc>
            </a:pPr>
            <a:r>
              <a:rPr lang="en-US" sz="3600" b="1" dirty="0" err="1">
                <a:solidFill>
                  <a:srgbClr val="1B4332"/>
                </a:solidFill>
              </a:rPr>
              <a:t>PaddyGuard</a:t>
            </a:r>
            <a:r>
              <a:rPr lang="en-US" sz="3600" b="1" dirty="0">
                <a:solidFill>
                  <a:srgbClr val="1B4332"/>
                </a:solidFill>
              </a:rPr>
              <a:t> AI: </a:t>
            </a:r>
            <a:br>
              <a:rPr lang="en-US" sz="3600" b="1" dirty="0">
                <a:solidFill>
                  <a:srgbClr val="1B4332"/>
                </a:solidFill>
              </a:rPr>
            </a:br>
            <a:r>
              <a:rPr lang="en-US" sz="3200" b="1" dirty="0">
                <a:solidFill>
                  <a:srgbClr val="1B4332"/>
                </a:solidFill>
              </a:rPr>
              <a:t>A Multimodal AI Based System for Rice Leaf Disease And Pest Detection, Treatment Recommendation And Knowledge Assistance </a:t>
            </a:r>
            <a:endParaRPr lang="en-US" sz="3200" b="1" dirty="0">
              <a:solidFill>
                <a:srgbClr val="1B4332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86907" y="4568892"/>
            <a:ext cx="3081655" cy="23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00"/>
              </a:lnSpc>
            </a:pPr>
            <a:r>
              <a:rPr lang="en-US" sz="1500" dirty="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Project ID : R26-SE-015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9DA2F68-4948-FD2C-B962-BE60740AA3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9870" y="202574"/>
            <a:ext cx="2665323" cy="473835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3A6D28BB-FCF3-4E8F-8D48-617D0C7C8C6F}"/>
              </a:ext>
            </a:extLst>
          </p:cNvPr>
          <p:cNvSpPr txBox="1"/>
          <p:nvPr/>
        </p:nvSpPr>
        <p:spPr>
          <a:xfrm>
            <a:off x="243478" y="146907"/>
            <a:ext cx="3465438" cy="6448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ea typeface="+mj-ea"/>
                <a:cs typeface="+mj-cs"/>
                <a:sym typeface="Impact"/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A92483-A943-C2D3-5441-C5E703A93D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132" b="1173"/>
          <a:stretch>
            <a:fillRect/>
          </a:stretch>
        </p:blipFill>
        <p:spPr>
          <a:xfrm>
            <a:off x="4671911" y="10"/>
            <a:ext cx="4472089" cy="51434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3AC6B6B5-32F7-0CB7-D2BC-6F6343EB1E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478" y="753299"/>
            <a:ext cx="4626905" cy="4360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Rice importance in Sri Lanka: feeds 21M people; 1.8M households rely on paddy farming.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Challenges: diseases like Bacterial Blight, Rice Blast, Brown Spot can destroy 30% - 80% of harvest; limited access to experts.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tools limitations: mostly image-based, English-only, not farmer-friendly, require good cameras.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rgbClr val="D4AC0D"/>
                </a:solidFill>
                <a:effectLst/>
                <a:latin typeface="Arial" panose="020B0604020202020204" pitchFamily="34" charset="0"/>
              </a:rPr>
              <a:t>PaddyGuard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D4AC0D"/>
                </a:solidFill>
                <a:effectLst/>
                <a:latin typeface="Arial" panose="020B0604020202020204" pitchFamily="34" charset="0"/>
              </a:rPr>
              <a:t> AI solution: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 &amp; image-based disease detection.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Treatment recommendations &amp; pest identification.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Sinhala-compatible advisory chatbot.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Easy-to-use, mobile-friendly platform.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dirty="0">
                <a:latin typeface="Arial" panose="020B0604020202020204" pitchFamily="34" charset="0"/>
              </a:rPr>
              <a:t>I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mpact: supports SDG 2 (Zero Hunger) and SDG 9 (Innovation &amp; Infrastructure) by protecting crops and empowering farmers.</a:t>
            </a:r>
          </a:p>
        </p:txBody>
      </p:sp>
    </p:spTree>
    <p:extLst>
      <p:ext uri="{BB962C8B-B14F-4D97-AF65-F5344CB8AC3E}">
        <p14:creationId xmlns:p14="http://schemas.microsoft.com/office/powerpoint/2010/main" val="1649470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>
            <a:extLst>
              <a:ext uri="{FF2B5EF4-FFF2-40B4-BE49-F238E27FC236}">
                <a16:creationId xmlns:a16="http://schemas.microsoft.com/office/drawing/2014/main" id="{B53BF8C0-DB4D-E36D-729E-F521733BD85F}"/>
              </a:ext>
            </a:extLst>
          </p:cNvPr>
          <p:cNvSpPr txBox="1"/>
          <p:nvPr/>
        </p:nvSpPr>
        <p:spPr>
          <a:xfrm>
            <a:off x="1" y="125616"/>
            <a:ext cx="9144000" cy="6448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ea typeface="+mj-ea"/>
                <a:cs typeface="+mj-cs"/>
                <a:sym typeface="Impact"/>
              </a:rPr>
              <a:t>Problem Definition</a:t>
            </a:r>
          </a:p>
        </p:txBody>
      </p:sp>
      <p:pic>
        <p:nvPicPr>
          <p:cNvPr id="3" name="Problem-Video-Compress">
            <a:hlinkClick r:id="" action="ppaction://media"/>
            <a:extLst>
              <a:ext uri="{FF2B5EF4-FFF2-40B4-BE49-F238E27FC236}">
                <a16:creationId xmlns:a16="http://schemas.microsoft.com/office/drawing/2014/main" id="{F1A0F1D4-46A9-5C76-9F2F-133CEF46F87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83030" y="895579"/>
            <a:ext cx="6377940" cy="364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35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216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53C52A-E430-6E22-FBE4-CB4D1C0C4E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0" r="2" b="8013"/>
          <a:stretch>
            <a:fillRect/>
          </a:stretch>
        </p:blipFill>
        <p:spPr>
          <a:xfrm>
            <a:off x="20" y="10"/>
            <a:ext cx="4587406" cy="51434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9" name="TextBox 10">
            <a:extLst>
              <a:ext uri="{FF2B5EF4-FFF2-40B4-BE49-F238E27FC236}">
                <a16:creationId xmlns:a16="http://schemas.microsoft.com/office/drawing/2014/main" id="{65782592-0114-735F-672E-BC6A903BFB43}"/>
              </a:ext>
            </a:extLst>
          </p:cNvPr>
          <p:cNvSpPr txBox="1"/>
          <p:nvPr/>
        </p:nvSpPr>
        <p:spPr>
          <a:xfrm>
            <a:off x="4447434" y="125616"/>
            <a:ext cx="3465438" cy="64489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ea typeface="+mj-ea"/>
                <a:cs typeface="+mj-cs"/>
                <a:sym typeface="Impact"/>
              </a:rPr>
              <a:t>Problem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977CEF1C-2E7D-D0A4-A511-745F507A9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7434" y="779849"/>
            <a:ext cx="4446311" cy="39395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Late Disease Identification – Farmers rely on experience or delayed expert advice, causing wrong treatments and 30% - 80% crop losses.</a:t>
            </a:r>
          </a:p>
          <a:p>
            <a:pPr marL="285750" lvl="0" indent="-285750" eaLnBrk="0" fontAlgn="base" hangingPunc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altLang="en-US" sz="1400" dirty="0"/>
          </a:p>
          <a:p>
            <a:pPr marL="285750" lvl="0" indent="-285750" eaLnBrk="0" fontAlgn="base" hangingPunc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English-Only Systems – Most tools support only English, making them difficult for Sinhala-speaking farmers.</a:t>
            </a:r>
          </a:p>
          <a:p>
            <a:pPr marL="285750" lvl="0" indent="-285750" eaLnBrk="0" fontAlgn="base" hangingPunc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altLang="en-US" sz="1400" dirty="0"/>
          </a:p>
          <a:p>
            <a:pPr marL="285750" lvl="0" indent="-285750" eaLnBrk="0" fontAlgn="base" hangingPunc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Image Dependency – Existing tools require clear leaf photos, but many farmers lack smartphones with good cameras.</a:t>
            </a:r>
          </a:p>
          <a:p>
            <a:pPr marL="285750" lvl="0" indent="-285750" eaLnBrk="0" fontAlgn="base" hangingPunc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altLang="en-US" sz="1400" dirty="0"/>
          </a:p>
          <a:p>
            <a:pPr marL="285750" lvl="0" indent="-285750" eaLnBrk="0" fontAlgn="base" hangingPunc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Fragmented Solutions – No single platform integrates disease detection, pest identification, and treatment advice.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83671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>
            <a:extLst>
              <a:ext uri="{FF2B5EF4-FFF2-40B4-BE49-F238E27FC236}">
                <a16:creationId xmlns:a16="http://schemas.microsoft.com/office/drawing/2014/main" id="{91AD163F-7CA5-D361-C014-2A20946FF49E}"/>
              </a:ext>
            </a:extLst>
          </p:cNvPr>
          <p:cNvSpPr txBox="1"/>
          <p:nvPr/>
        </p:nvSpPr>
        <p:spPr>
          <a:xfrm>
            <a:off x="0" y="260370"/>
            <a:ext cx="9144000" cy="64489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/>
              <a:t>Limitations of Existing Agricultural AI Systems</a:t>
            </a:r>
            <a:endParaRPr lang="en-US" sz="3600" b="1" dirty="0">
              <a:ea typeface="+mj-ea"/>
              <a:cs typeface="+mj-cs"/>
              <a:sym typeface="Impac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C64B05-2FCD-A069-A36F-91C22E6E5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75" y="404749"/>
            <a:ext cx="7715250" cy="504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158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84D32B56-75C3-ABA2-C4D4-E6DD23F8F291}"/>
              </a:ext>
            </a:extLst>
          </p:cNvPr>
          <p:cNvSpPr txBox="1"/>
          <p:nvPr/>
        </p:nvSpPr>
        <p:spPr>
          <a:xfrm>
            <a:off x="222719" y="211727"/>
            <a:ext cx="3465438" cy="55836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ea typeface="+mj-ea"/>
                <a:cs typeface="+mj-cs"/>
                <a:sym typeface="Impact"/>
              </a:rPr>
              <a:t>Our Approach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90E5E5-C3D4-0785-3CB9-29F30CBA02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690" b="14616"/>
          <a:stretch>
            <a:fillRect/>
          </a:stretch>
        </p:blipFill>
        <p:spPr>
          <a:xfrm>
            <a:off x="5274644" y="10"/>
            <a:ext cx="3869356" cy="51434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DB1B1728-AEDF-D9A8-A242-0DA92D69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719" y="779713"/>
            <a:ext cx="5244430" cy="4257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ts val="400"/>
              </a:spcBef>
              <a:spcAft>
                <a:spcPts val="400"/>
              </a:spcAft>
            </a:pPr>
            <a:r>
              <a:rPr lang="en-US" altLang="en-US" sz="1400" b="1" dirty="0">
                <a:solidFill>
                  <a:srgbClr val="D4AC0D"/>
                </a:solidFill>
              </a:rPr>
              <a:t>Voice-Based Disease Diagnosis</a:t>
            </a:r>
          </a:p>
          <a:p>
            <a:pPr marL="285750" lvl="0" indent="-285750" eaLnBrk="0" fontAlgn="base" hangingPunc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Farmers describe crop symptoms in Sinhala voice. The system converts speech to text, analyzes symptoms using NLP models, and provides voice and text diagnosis.</a:t>
            </a:r>
          </a:p>
          <a:p>
            <a:pPr lvl="0" eaLnBrk="0" fontAlgn="base" hangingPunct="0">
              <a:spcBef>
                <a:spcPts val="400"/>
              </a:spcBef>
              <a:spcAft>
                <a:spcPts val="400"/>
              </a:spcAft>
            </a:pPr>
            <a:r>
              <a:rPr lang="en-US" altLang="en-US" sz="1400" b="1" dirty="0">
                <a:solidFill>
                  <a:srgbClr val="D4AC0D"/>
                </a:solidFill>
              </a:rPr>
              <a:t>Image-Based Disease Classification</a:t>
            </a:r>
          </a:p>
          <a:p>
            <a:pPr marL="285750" lvl="0" indent="-285750" eaLnBrk="0" fontAlgn="base" hangingPunc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Farmers upload leaf images. Deep learning models detect diseases such as Bacterial Blight, Rice Blast, and Brown Spot, with OOD detection to avoid incorrect predictions.</a:t>
            </a:r>
          </a:p>
          <a:p>
            <a:pPr lvl="0" eaLnBrk="0" fontAlgn="base" hangingPunct="0">
              <a:spcBef>
                <a:spcPts val="400"/>
              </a:spcBef>
              <a:spcAft>
                <a:spcPts val="400"/>
              </a:spcAft>
            </a:pPr>
            <a:r>
              <a:rPr lang="en-US" altLang="en-US" sz="1400" b="1" dirty="0">
                <a:solidFill>
                  <a:srgbClr val="D4AC0D"/>
                </a:solidFill>
              </a:rPr>
              <a:t>Treatment Advisory Chatbot</a:t>
            </a:r>
          </a:p>
          <a:p>
            <a:pPr marL="285750" lvl="0" indent="-285750" eaLnBrk="0" fontAlgn="base" hangingPunc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A hybrid AI + knowledge-based system provides treatment recommendations, pesticide dosage guidance, and farmer-friendly advisory through a chatbot.</a:t>
            </a:r>
          </a:p>
          <a:p>
            <a:pPr lvl="0" eaLnBrk="0" fontAlgn="base" hangingPunct="0">
              <a:spcBef>
                <a:spcPts val="400"/>
              </a:spcBef>
              <a:spcAft>
                <a:spcPts val="400"/>
              </a:spcAft>
            </a:pPr>
            <a:r>
              <a:rPr lang="en-US" altLang="en-US" sz="1400" b="1" dirty="0">
                <a:solidFill>
                  <a:srgbClr val="D4AC0D"/>
                </a:solidFill>
              </a:rPr>
              <a:t>Rice Pest Detection</a:t>
            </a:r>
          </a:p>
          <a:p>
            <a:pPr marL="285750" lvl="0" indent="-285750" eaLnBrk="0" fontAlgn="base" hangingPunc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YOLO/CNN models identify common rice pests from images, with OOD detection to flag unknown insects and provide proper treatment advice.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435711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9BB35BC-D5C2-4C8B-A22A-A71E61919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26345D62-1D52-F043-45AD-578A0F00DDDE}"/>
              </a:ext>
            </a:extLst>
          </p:cNvPr>
          <p:cNvSpPr txBox="1"/>
          <p:nvPr/>
        </p:nvSpPr>
        <p:spPr>
          <a:xfrm>
            <a:off x="3787817" y="0"/>
            <a:ext cx="5281432" cy="1355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ea typeface="+mj-ea"/>
                <a:cs typeface="+mj-cs"/>
              </a:rPr>
              <a:t>Solution Overview</a:t>
            </a:r>
            <a:endParaRPr lang="en-US" sz="4400" b="1" dirty="0">
              <a:ea typeface="+mj-ea"/>
              <a:cs typeface="+mj-cs"/>
              <a:sym typeface="Impac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4A48C1-6979-B7A6-CAC6-F9F0A09651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401" r="-1" b="3249"/>
          <a:stretch>
            <a:fillRect/>
          </a:stretch>
        </p:blipFill>
        <p:spPr>
          <a:xfrm>
            <a:off x="20" y="10"/>
            <a:ext cx="3715332" cy="51434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655A1320-9060-E8B6-5796-DA6F5F2C54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7817" y="1232077"/>
            <a:ext cx="4806992" cy="356130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Autofit/>
          </a:bodyPr>
          <a:lstStyle/>
          <a:p>
            <a:pPr lvl="0" fontAlgn="base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en-US" sz="1400" b="1" dirty="0">
                <a:solidFill>
                  <a:srgbClr val="D4AC0D"/>
                </a:solidFill>
              </a:rPr>
              <a:t>What It Is?</a:t>
            </a:r>
          </a:p>
          <a:p>
            <a:pPr marL="285750" lvl="0" indent="-228600" fontAlgn="base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 dirty="0" err="1"/>
              <a:t>PaddyGuard</a:t>
            </a:r>
            <a:r>
              <a:rPr lang="en-US" altLang="en-US" sz="1400" dirty="0"/>
              <a:t> AI is a mobile-friendly AI system for Sri Lankan paddy farmers.</a:t>
            </a:r>
          </a:p>
          <a:p>
            <a:pPr marL="285750" lvl="0" indent="-228600" fontAlgn="base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Combines voice diagnosis, image disease detection, pest detection, and treatment advisory.</a:t>
            </a:r>
          </a:p>
          <a:p>
            <a:pPr marL="285750" lvl="0" indent="-228600" fontAlgn="base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Designed with Sinhala voice-first support for easy use by rural farmers.</a:t>
            </a:r>
          </a:p>
          <a:p>
            <a:pPr marL="285750" lvl="0" indent="-228600" fontAlgn="base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altLang="en-US" sz="1400" dirty="0"/>
          </a:p>
          <a:p>
            <a:pPr lvl="0" fontAlgn="base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altLang="en-US" sz="1400" b="1" dirty="0">
                <a:solidFill>
                  <a:srgbClr val="D4AC0D"/>
                </a:solidFill>
              </a:rPr>
              <a:t>What It Does?</a:t>
            </a:r>
          </a:p>
          <a:p>
            <a:pPr marL="285750" lvl="0" indent="-228600" fontAlgn="base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Voice-based disease diagnosis using Sinhala speech.</a:t>
            </a:r>
          </a:p>
          <a:p>
            <a:pPr marL="285750" lvl="0" indent="-228600" fontAlgn="base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AI image detection for rice diseases and pests.</a:t>
            </a:r>
          </a:p>
          <a:p>
            <a:pPr marL="285750" lvl="0" indent="-228600" fontAlgn="base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Provides treatment advice and pesticide guidance.</a:t>
            </a:r>
          </a:p>
          <a:p>
            <a:pPr marL="285750" lvl="0" indent="-228600" fontAlgn="base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en-US" sz="1400" dirty="0"/>
              <a:t>Results delivered in Sinhala text and voice.</a:t>
            </a:r>
            <a:endParaRPr kumimoji="0" lang="en-US" altLang="en-US" sz="1400" i="0" u="none" strike="noStrike" cap="none" normalizeH="0" baseline="0" dirty="0">
              <a:ln>
                <a:noFill/>
              </a:ln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18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73152"/>
            <a:ext cx="73152" cy="50703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2940" y="182880"/>
            <a:ext cx="6739128" cy="1676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+mj-lt"/>
              </a:rPr>
              <a:t>Voice-Based Rice Disease Diagnosis Using Speech Recognition And Natural Language Processing</a:t>
            </a:r>
          </a:p>
        </p:txBody>
      </p:sp>
      <p:sp>
        <p:nvSpPr>
          <p:cNvPr id="11" name="Shape 9"/>
          <p:cNvSpPr/>
          <p:nvPr/>
        </p:nvSpPr>
        <p:spPr>
          <a:xfrm>
            <a:off x="356616" y="1914545"/>
            <a:ext cx="5943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0064" y="206365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/>
              <a:t>IT22273680  |   Weerasinghe K G J P</a:t>
            </a:r>
            <a:br>
              <a:rPr lang="en-US" sz="1200" dirty="0"/>
            </a:br>
            <a:endParaRPr lang="en-US" sz="1200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F5BA5EE9-4F69-6A66-4D21-FD375216306F}"/>
              </a:ext>
            </a:extLst>
          </p:cNvPr>
          <p:cNvSpPr/>
          <p:nvPr/>
        </p:nvSpPr>
        <p:spPr>
          <a:xfrm>
            <a:off x="472940" y="2840185"/>
            <a:ext cx="54864" cy="71323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F6CD7FA9-B305-93F0-C0E9-38E16349607A}"/>
              </a:ext>
            </a:extLst>
          </p:cNvPr>
          <p:cNvSpPr/>
          <p:nvPr/>
        </p:nvSpPr>
        <p:spPr>
          <a:xfrm>
            <a:off x="655820" y="2840185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>
                    <a:lumMod val="75000"/>
                  </a:schemeClr>
                </a:solidFill>
              </a:rPr>
              <a:t>Contribution of your component to the overall solution</a:t>
            </a:r>
            <a:endParaRPr lang="en-US" sz="12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BA4A1487-29EB-39C8-DB9B-4C9084D62BF9}"/>
              </a:ext>
            </a:extLst>
          </p:cNvPr>
          <p:cNvSpPr/>
          <p:nvPr/>
        </p:nvSpPr>
        <p:spPr>
          <a:xfrm>
            <a:off x="655820" y="3050497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/>
              <a:t>Enables Sinhala-speaking paddy farmers to voice-diagnose rice diseases without cameras or technical expertise.</a:t>
            </a: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C43360BC-D6BA-1DDB-22F1-B88DA36698A6}"/>
              </a:ext>
            </a:extLst>
          </p:cNvPr>
          <p:cNvSpPr/>
          <p:nvPr/>
        </p:nvSpPr>
        <p:spPr>
          <a:xfrm>
            <a:off x="472940" y="3708865"/>
            <a:ext cx="54864" cy="71323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2D0FD676-DCF2-877B-B595-AAD3866FAF41}"/>
              </a:ext>
            </a:extLst>
          </p:cNvPr>
          <p:cNvSpPr/>
          <p:nvPr/>
        </p:nvSpPr>
        <p:spPr>
          <a:xfrm>
            <a:off x="655820" y="3708865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>
                    <a:lumMod val="75000"/>
                  </a:schemeClr>
                </a:solidFill>
              </a:rPr>
              <a:t>Novelty of your component</a:t>
            </a:r>
            <a:endParaRPr lang="en-US" sz="12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86A5BBA4-7F84-5FA2-2108-E06E7CE5D750}"/>
              </a:ext>
            </a:extLst>
          </p:cNvPr>
          <p:cNvSpPr/>
          <p:nvPr/>
        </p:nvSpPr>
        <p:spPr>
          <a:xfrm>
            <a:off x="655820" y="3919177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b="1" dirty="0"/>
              <a:t>First Sinhala-language voice-based rice disease diagnosis using Whisper ASR + BERT/TF-IDF classification with adaptive follow-up questioning.</a:t>
            </a: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EDBC73D8-7710-2104-22F0-E2D4F0E83D03}"/>
              </a:ext>
            </a:extLst>
          </p:cNvPr>
          <p:cNvSpPr/>
          <p:nvPr/>
        </p:nvSpPr>
        <p:spPr>
          <a:xfrm>
            <a:off x="-52466" y="4919472"/>
            <a:ext cx="919646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41B95E9-AB82-20D8-F0AE-A8E611BDFE8A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0DD771B1-5D48-208B-58B0-8FCC660EA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28" y="4818888"/>
            <a:ext cx="1425452" cy="274320"/>
          </a:xfrm>
          <a:prstGeom prst="rect">
            <a:avLst/>
          </a:prstGeom>
        </p:spPr>
      </p:pic>
      <p:sp>
        <p:nvSpPr>
          <p:cNvPr id="30" name="Shape 28">
            <a:extLst>
              <a:ext uri="{FF2B5EF4-FFF2-40B4-BE49-F238E27FC236}">
                <a16:creationId xmlns:a16="http://schemas.microsoft.com/office/drawing/2014/main" id="{5FB86A88-2CF1-03FA-6D34-B3980D9AC2D0}"/>
              </a:ext>
            </a:extLst>
          </p:cNvPr>
          <p:cNvSpPr/>
          <p:nvPr/>
        </p:nvSpPr>
        <p:spPr>
          <a:xfrm>
            <a:off x="1645920" y="4846320"/>
            <a:ext cx="0" cy="228600"/>
          </a:xfrm>
          <a:prstGeom prst="line">
            <a:avLst/>
          </a:prstGeom>
          <a:noFill/>
          <a:ln w="1016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E8B3C98-3CC8-570E-FA30-2DDC20100B8B}"/>
              </a:ext>
            </a:extLst>
          </p:cNvPr>
          <p:cNvSpPr/>
          <p:nvPr/>
        </p:nvSpPr>
        <p:spPr>
          <a:xfrm>
            <a:off x="1754224" y="4828032"/>
            <a:ext cx="505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IT22273680  | Weerasinghe K G J P  |  R26-SE-015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5275843A-6879-B8DC-DD51-7849F78BA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743" y="228930"/>
            <a:ext cx="1582825" cy="21104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127416"/>
            <a:ext cx="73152" cy="469147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Voice-Based Rice Disease Diagnosis using Speech Recognition and Natural Language Processing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94944"/>
            <a:ext cx="9144000" cy="5029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9028" y="72473"/>
            <a:ext cx="7772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</a:rPr>
              <a:t>Problem And Research Objectives. 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368010" y="923544"/>
            <a:ext cx="4069080" cy="3291839"/>
          </a:xfrm>
          <a:prstGeom prst="rect">
            <a:avLst/>
          </a:prstGeom>
          <a:solidFill>
            <a:srgbClr val="2D6A4F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Problem Definition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68010" y="877824"/>
            <a:ext cx="4069080" cy="4572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2602" y="95097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87466" y="1341882"/>
            <a:ext cx="3566160" cy="2286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8886" y="1490132"/>
            <a:ext cx="37033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Existing AI crop disease systems rely on leaf photographs.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Requires smartphones with good-quality cameras.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Rural Sri Lankan farmers often lack such devices.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Most agricultural AI systems support only English.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Creates a significant barrier for Sinhala-speaking farmers.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Farmers cannot easily describe symptoms or understand results</a:t>
            </a:r>
          </a:p>
        </p:txBody>
      </p:sp>
      <p:sp>
        <p:nvSpPr>
          <p:cNvPr id="13" name="Shape 11"/>
          <p:cNvSpPr/>
          <p:nvPr/>
        </p:nvSpPr>
        <p:spPr>
          <a:xfrm>
            <a:off x="4802850" y="923544"/>
            <a:ext cx="4069080" cy="3291840"/>
          </a:xfrm>
          <a:prstGeom prst="rect">
            <a:avLst/>
          </a:prstGeom>
          <a:solidFill>
            <a:srgbClr val="2D6A4F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Research Objectives.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802850" y="877824"/>
            <a:ext cx="4069080" cy="4572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67442" y="1348061"/>
            <a:ext cx="3566160" cy="2286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2602" y="2747592"/>
            <a:ext cx="3703320" cy="1752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8010" y="4297680"/>
            <a:ext cx="850392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5170" y="429768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Result: Farmers struggle to get quick, accurate disease diagnosis — leading to delayed treatment and crop losses.</a:t>
            </a:r>
            <a:endParaRPr lang="en-US" sz="1200" dirty="0"/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BF0D7A73-2624-8FA7-50D9-8D85EEA98700}"/>
              </a:ext>
            </a:extLst>
          </p:cNvPr>
          <p:cNvSpPr/>
          <p:nvPr/>
        </p:nvSpPr>
        <p:spPr>
          <a:xfrm>
            <a:off x="-52466" y="4919472"/>
            <a:ext cx="919646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A2E1D1DD-6193-A4E7-7CA3-6EC1A4020146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>
            <a:extLst>
              <a:ext uri="{FF2B5EF4-FFF2-40B4-BE49-F238E27FC236}">
                <a16:creationId xmlns:a16="http://schemas.microsoft.com/office/drawing/2014/main" id="{D8EC738F-DED7-1358-915F-3200525EC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28" y="4818888"/>
            <a:ext cx="1425452" cy="274320"/>
          </a:xfrm>
          <a:prstGeom prst="rect">
            <a:avLst/>
          </a:prstGeom>
        </p:spPr>
      </p:pic>
      <p:sp>
        <p:nvSpPr>
          <p:cNvPr id="27" name="Shape 28">
            <a:extLst>
              <a:ext uri="{FF2B5EF4-FFF2-40B4-BE49-F238E27FC236}">
                <a16:creationId xmlns:a16="http://schemas.microsoft.com/office/drawing/2014/main" id="{BF467A9F-6E26-2988-C19B-46755DA24974}"/>
              </a:ext>
            </a:extLst>
          </p:cNvPr>
          <p:cNvSpPr/>
          <p:nvPr/>
        </p:nvSpPr>
        <p:spPr>
          <a:xfrm>
            <a:off x="1645920" y="4846320"/>
            <a:ext cx="0" cy="228600"/>
          </a:xfrm>
          <a:prstGeom prst="line">
            <a:avLst/>
          </a:prstGeom>
          <a:noFill/>
          <a:ln w="1016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F0935060-0CB4-8624-C1C9-739669457F7A}"/>
              </a:ext>
            </a:extLst>
          </p:cNvPr>
          <p:cNvSpPr/>
          <p:nvPr/>
        </p:nvSpPr>
        <p:spPr>
          <a:xfrm>
            <a:off x="1754224" y="4828032"/>
            <a:ext cx="505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B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IT22273680  | Weerasinghe K G J P  |  R26-SE-015</a:t>
            </a:r>
            <a:endParaRPr lang="en-US" sz="900" dirty="0"/>
          </a:p>
        </p:txBody>
      </p:sp>
      <p:sp>
        <p:nvSpPr>
          <p:cNvPr id="2" name="Text 10">
            <a:extLst>
              <a:ext uri="{FF2B5EF4-FFF2-40B4-BE49-F238E27FC236}">
                <a16:creationId xmlns:a16="http://schemas.microsoft.com/office/drawing/2014/main" id="{16AE10B9-193C-D433-E85D-4575C26F32DB}"/>
              </a:ext>
            </a:extLst>
          </p:cNvPr>
          <p:cNvSpPr/>
          <p:nvPr/>
        </p:nvSpPr>
        <p:spPr>
          <a:xfrm>
            <a:off x="4898862" y="1444572"/>
            <a:ext cx="3703320" cy="5996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CFAF9153-93B5-52B4-7D22-17A69A9F298E}"/>
              </a:ext>
            </a:extLst>
          </p:cNvPr>
          <p:cNvSpPr/>
          <p:nvPr/>
        </p:nvSpPr>
        <p:spPr>
          <a:xfrm>
            <a:off x="4985730" y="1485900"/>
            <a:ext cx="3703320" cy="2610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chemeClr val="bg1"/>
                </a:solidFill>
              </a:rPr>
              <a:t>Develop a Sinhala voice-based NLP disease classification system for low-literacy Sri Lankan paddy farmers achieving ≥85% accuracy.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Create a Sinhala agricultural voice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Design and implement a speech-to-text and NLP pipeline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Evaluate and compare different text classification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Build integration API to sister components. (C2, C3, C4)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-14241" y="329784"/>
            <a:ext cx="87393" cy="4489104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14241" y="-59014"/>
            <a:ext cx="9144000" cy="79552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Voice-Based Rice Disease Diagnosis using Speech Recognition and Natural Language Processing</a:t>
            </a:r>
          </a:p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0" y="694944"/>
            <a:ext cx="9144000" cy="5029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0"/>
            <a:ext cx="77724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8" name="Shape 6"/>
          <p:cNvSpPr/>
          <p:nvPr/>
        </p:nvSpPr>
        <p:spPr>
          <a:xfrm>
            <a:off x="427970" y="900308"/>
            <a:ext cx="3794760" cy="3772275"/>
          </a:xfrm>
          <a:prstGeom prst="rect">
            <a:avLst/>
          </a:prstGeom>
          <a:solidFill>
            <a:srgbClr val="2D6A4F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27970" y="900309"/>
            <a:ext cx="3794760" cy="42062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65130" y="89281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11" name="Text 9"/>
          <p:cNvSpPr/>
          <p:nvPr/>
        </p:nvSpPr>
        <p:spPr>
          <a:xfrm>
            <a:off x="583418" y="1394085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2D6A4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42770" y="900309"/>
            <a:ext cx="4251960" cy="3772274"/>
          </a:xfrm>
          <a:prstGeom prst="rect">
            <a:avLst/>
          </a:prstGeom>
          <a:solidFill>
            <a:srgbClr val="2D6A4F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42770" y="900309"/>
            <a:ext cx="4251960" cy="42062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79930" y="900309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Latest Technologies</a:t>
            </a:r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E661DF2F-396F-953B-2BEC-CBDB160A8D7C}"/>
              </a:ext>
            </a:extLst>
          </p:cNvPr>
          <p:cNvSpPr/>
          <p:nvPr/>
        </p:nvSpPr>
        <p:spPr>
          <a:xfrm>
            <a:off x="-52466" y="4919472"/>
            <a:ext cx="919646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8" name="Shape 26">
            <a:extLst>
              <a:ext uri="{FF2B5EF4-FFF2-40B4-BE49-F238E27FC236}">
                <a16:creationId xmlns:a16="http://schemas.microsoft.com/office/drawing/2014/main" id="{F780E7FA-0F5C-DA27-1F08-524684D61896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3" descr="preencoded.png">
            <a:extLst>
              <a:ext uri="{FF2B5EF4-FFF2-40B4-BE49-F238E27FC236}">
                <a16:creationId xmlns:a16="http://schemas.microsoft.com/office/drawing/2014/main" id="{319C3F5A-45E4-1B29-8631-E62C7532C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28" y="4818888"/>
            <a:ext cx="1425452" cy="274320"/>
          </a:xfrm>
          <a:prstGeom prst="rect">
            <a:avLst/>
          </a:prstGeom>
        </p:spPr>
      </p:pic>
      <p:sp>
        <p:nvSpPr>
          <p:cNvPr id="40" name="Shape 28">
            <a:extLst>
              <a:ext uri="{FF2B5EF4-FFF2-40B4-BE49-F238E27FC236}">
                <a16:creationId xmlns:a16="http://schemas.microsoft.com/office/drawing/2014/main" id="{F7F3D025-A16D-805C-D106-84B43F534CC3}"/>
              </a:ext>
            </a:extLst>
          </p:cNvPr>
          <p:cNvSpPr/>
          <p:nvPr/>
        </p:nvSpPr>
        <p:spPr>
          <a:xfrm>
            <a:off x="1645920" y="4846320"/>
            <a:ext cx="0" cy="228600"/>
          </a:xfrm>
          <a:prstGeom prst="line">
            <a:avLst/>
          </a:prstGeom>
          <a:noFill/>
          <a:ln w="1016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29">
            <a:extLst>
              <a:ext uri="{FF2B5EF4-FFF2-40B4-BE49-F238E27FC236}">
                <a16:creationId xmlns:a16="http://schemas.microsoft.com/office/drawing/2014/main" id="{4ABFCB50-9659-E93C-4CC2-8D16E57AA7EF}"/>
              </a:ext>
            </a:extLst>
          </p:cNvPr>
          <p:cNvSpPr/>
          <p:nvPr/>
        </p:nvSpPr>
        <p:spPr>
          <a:xfrm>
            <a:off x="1754224" y="4828032"/>
            <a:ext cx="505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B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IT22273680  | Weerasinghe K G J P  |  R26-SE-015</a:t>
            </a:r>
            <a:endParaRPr lang="en-US" sz="900" dirty="0"/>
          </a:p>
        </p:txBody>
      </p:sp>
      <p:sp>
        <p:nvSpPr>
          <p:cNvPr id="36" name="Rectangle 6">
            <a:extLst>
              <a:ext uri="{FF2B5EF4-FFF2-40B4-BE49-F238E27FC236}">
                <a16:creationId xmlns:a16="http://schemas.microsoft.com/office/drawing/2014/main" id="{5F787BBD-DE5B-DB79-CB3E-1EE9595CF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2415" y="1375615"/>
            <a:ext cx="3835022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Whisper Speech Recognition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converts farmer voice into text.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TF-IDF + Machine Learning (SVM / Naive Bayes)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baseline text classification.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BERT Transformer Model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advanced contextual understanding of symptom descriptions.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PyTorch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&amp;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HuggingFace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Transformers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model development and training.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1400" b="1" dirty="0">
                <a:solidFill>
                  <a:schemeClr val="bg1"/>
                </a:solidFill>
              </a:rPr>
              <a:t>T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ext-to-Speech (TTS)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– converts diagnosis results into Sinhala voice output.</a:t>
            </a:r>
          </a:p>
        </p:txBody>
      </p:sp>
      <p:sp>
        <p:nvSpPr>
          <p:cNvPr id="43" name="Rectangle 8">
            <a:extLst>
              <a:ext uri="{FF2B5EF4-FFF2-40B4-BE49-F238E27FC236}">
                <a16:creationId xmlns:a16="http://schemas.microsoft.com/office/drawing/2014/main" id="{EA10E1A3-ED21-BF7C-990F-56E63D3F9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581" y="1397227"/>
            <a:ext cx="3794760" cy="33034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56032" marR="0" lvl="0" indent="-256032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Speech Recognition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converts Sinhala voice input from farmers into text.</a:t>
            </a:r>
          </a:p>
          <a:p>
            <a:pPr marL="256032" marR="0" lvl="0" indent="-256032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Natural Language Processing (NLP)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processes symptom descriptions and extracts important information.</a:t>
            </a:r>
          </a:p>
          <a:p>
            <a:pPr marL="256032" marR="0" lvl="0" indent="-256032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Text classification models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analyze the symptoms to predict the most likely rice disease.</a:t>
            </a:r>
          </a:p>
          <a:p>
            <a:pPr marL="256032" marR="0" lvl="0" indent="-256032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The system learns relationships between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symptoms and diseases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using machine learning and transformer-based models.</a:t>
            </a:r>
          </a:p>
          <a:p>
            <a:pPr marL="256032" marR="0" lvl="0" indent="-256032" algn="l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The final diagnosis is returned to the farmer using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text and voice output</a:t>
            </a:r>
            <a:r>
              <a:rPr lang="en-US" altLang="en-US" sz="1400" dirty="0">
                <a:solidFill>
                  <a:schemeClr val="bg1"/>
                </a:solidFill>
              </a:rPr>
              <a:t>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157396"/>
            <a:ext cx="73152" cy="4661491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Voice-Based Rice Disease Diagnosis using Speech Recognition and Natural Language Processing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0" y="694944"/>
            <a:ext cx="9144000" cy="5029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17356"/>
            <a:ext cx="7772400" cy="477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>
                <a:solidFill>
                  <a:schemeClr val="bg1"/>
                </a:solidFill>
              </a:rPr>
              <a:t>Validation And Data Availability</a:t>
            </a:r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85E7D40A-FD7A-7877-C50C-7B0192265751}"/>
              </a:ext>
            </a:extLst>
          </p:cNvPr>
          <p:cNvSpPr/>
          <p:nvPr/>
        </p:nvSpPr>
        <p:spPr>
          <a:xfrm>
            <a:off x="-52466" y="4919472"/>
            <a:ext cx="919646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60" name="Shape 26">
            <a:extLst>
              <a:ext uri="{FF2B5EF4-FFF2-40B4-BE49-F238E27FC236}">
                <a16:creationId xmlns:a16="http://schemas.microsoft.com/office/drawing/2014/main" id="{F103C3E5-2DCE-A889-64DB-F90BCFDCCC26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1" name="Image 3" descr="preencoded.png">
            <a:extLst>
              <a:ext uri="{FF2B5EF4-FFF2-40B4-BE49-F238E27FC236}">
                <a16:creationId xmlns:a16="http://schemas.microsoft.com/office/drawing/2014/main" id="{7AF57526-C1C2-505B-DF6C-0D7BFBE3C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28" y="4818888"/>
            <a:ext cx="1425452" cy="274320"/>
          </a:xfrm>
          <a:prstGeom prst="rect">
            <a:avLst/>
          </a:prstGeom>
        </p:spPr>
      </p:pic>
      <p:sp>
        <p:nvSpPr>
          <p:cNvPr id="62" name="Shape 28">
            <a:extLst>
              <a:ext uri="{FF2B5EF4-FFF2-40B4-BE49-F238E27FC236}">
                <a16:creationId xmlns:a16="http://schemas.microsoft.com/office/drawing/2014/main" id="{08E98938-9BA1-DF10-A3C4-A947704F054E}"/>
              </a:ext>
            </a:extLst>
          </p:cNvPr>
          <p:cNvSpPr/>
          <p:nvPr/>
        </p:nvSpPr>
        <p:spPr>
          <a:xfrm>
            <a:off x="1645920" y="4846320"/>
            <a:ext cx="0" cy="228600"/>
          </a:xfrm>
          <a:prstGeom prst="line">
            <a:avLst/>
          </a:prstGeom>
          <a:noFill/>
          <a:ln w="1016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D4F10088-06BC-55FF-BCCA-48B22F691964}"/>
              </a:ext>
            </a:extLst>
          </p:cNvPr>
          <p:cNvSpPr/>
          <p:nvPr/>
        </p:nvSpPr>
        <p:spPr>
          <a:xfrm>
            <a:off x="1754224" y="4828032"/>
            <a:ext cx="505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B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IT22273680  | Weerasinghe K G J P  |  R26-SE-015</a:t>
            </a:r>
            <a:endParaRPr lang="en-US" sz="900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7E809AD9-F760-BF60-D478-EF6962B6B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52" y="1484089"/>
            <a:ext cx="2840955" cy="1398991"/>
          </a:xfrm>
          <a:prstGeom prst="rect">
            <a:avLst/>
          </a:prstGeom>
        </p:spPr>
      </p:pic>
      <p:sp>
        <p:nvSpPr>
          <p:cNvPr id="58" name="Rectangle 1">
            <a:extLst>
              <a:ext uri="{FF2B5EF4-FFF2-40B4-BE49-F238E27FC236}">
                <a16:creationId xmlns:a16="http://schemas.microsoft.com/office/drawing/2014/main" id="{0ADE90B8-4792-AFCE-029D-FE6D63EA5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481" y="2925641"/>
            <a:ext cx="4076479" cy="1692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Performance evaluated using accuracy, precision, recall, and F1-score.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Compare performance between traditional ML models and transformer-based models.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Conduct real voice input testing with farmers to evaluate system usability and prediction reliability.</a:t>
            </a:r>
          </a:p>
        </p:txBody>
      </p:sp>
      <p:sp>
        <p:nvSpPr>
          <p:cNvPr id="64" name="Text 8">
            <a:extLst>
              <a:ext uri="{FF2B5EF4-FFF2-40B4-BE49-F238E27FC236}">
                <a16:creationId xmlns:a16="http://schemas.microsoft.com/office/drawing/2014/main" id="{89FDF7AE-5127-5836-C827-51844ADAD1A3}"/>
              </a:ext>
            </a:extLst>
          </p:cNvPr>
          <p:cNvSpPr/>
          <p:nvPr/>
        </p:nvSpPr>
        <p:spPr>
          <a:xfrm>
            <a:off x="393350" y="928572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D4AC0D"/>
                </a:solidFill>
              </a:rPr>
              <a:t>Validation and Evaluation</a:t>
            </a:r>
          </a:p>
        </p:txBody>
      </p:sp>
      <p:sp>
        <p:nvSpPr>
          <p:cNvPr id="65" name="Text 8">
            <a:extLst>
              <a:ext uri="{FF2B5EF4-FFF2-40B4-BE49-F238E27FC236}">
                <a16:creationId xmlns:a16="http://schemas.microsoft.com/office/drawing/2014/main" id="{BDC48437-9FAD-8196-6575-B6A909655689}"/>
              </a:ext>
            </a:extLst>
          </p:cNvPr>
          <p:cNvSpPr/>
          <p:nvPr/>
        </p:nvSpPr>
        <p:spPr>
          <a:xfrm>
            <a:off x="4719794" y="948631"/>
            <a:ext cx="366602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D4AC0D"/>
                </a:solidFill>
              </a:rPr>
              <a:t>Data Availability, Security Clearance</a:t>
            </a:r>
          </a:p>
        </p:txBody>
      </p:sp>
      <p:sp>
        <p:nvSpPr>
          <p:cNvPr id="66" name="Rectangle 1">
            <a:extLst>
              <a:ext uri="{FF2B5EF4-FFF2-40B4-BE49-F238E27FC236}">
                <a16:creationId xmlns:a16="http://schemas.microsoft.com/office/drawing/2014/main" id="{FD4A5C1E-0D61-5E13-E0DA-C594241A7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9794" y="1382138"/>
            <a:ext cx="4076479" cy="36779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Sinhala agricultural voice dataset will be </a:t>
            </a:r>
            <a:r>
              <a:rPr lang="en-US" sz="1400" b="1" dirty="0"/>
              <a:t>collected from farmers and volunteers</a:t>
            </a:r>
            <a:r>
              <a:rPr lang="en-US" sz="1400" dirty="0"/>
              <a:t>.</a:t>
            </a:r>
          </a:p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Data will be stored securely with </a:t>
            </a:r>
            <a:r>
              <a:rPr lang="en-US" sz="1400" b="1" dirty="0"/>
              <a:t>restricted research access</a:t>
            </a:r>
            <a:r>
              <a:rPr lang="en-US" sz="1400" dirty="0"/>
              <a:t>.</a:t>
            </a:r>
          </a:p>
          <a:p>
            <a:pPr marL="17145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All API communications secured via HTTPS / TLS 1.3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Conducted under SLIIT Research Ethics Committee guidelines.</a:t>
            </a:r>
            <a:endParaRPr lang="en-US" sz="1400" dirty="0"/>
          </a:p>
          <a:p>
            <a:pPr marL="17145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Participant privacy protected throughout data collection.</a:t>
            </a:r>
          </a:p>
          <a:p>
            <a:pPr marL="17145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Containerized microservices — Docker + Kubernetes horizontal scaling.</a:t>
            </a:r>
            <a:endParaRPr lang="en-US" sz="1400" dirty="0"/>
          </a:p>
          <a:p>
            <a:pPr marL="17145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7494"/>
            <a:ext cx="73152" cy="482053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pPr algn="ctr"/>
            <a:r>
              <a:rPr lang="en-US" sz="1200" dirty="0">
                <a:solidFill>
                  <a:schemeClr val="bg1"/>
                </a:solidFill>
              </a:rPr>
              <a:t>Voice-Based Rice Disease Diagnosis using Speech Recognition and Natural Language Processing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0" y="694944"/>
            <a:ext cx="9144000" cy="5029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7052" y="62566"/>
            <a:ext cx="7772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>
                <a:solidFill>
                  <a:srgbClr val="FFFFFF"/>
                </a:solidFill>
              </a:rPr>
              <a:t>System Overview And </a:t>
            </a:r>
            <a:r>
              <a:rPr lang="en-US" sz="3200" dirty="0">
                <a:solidFill>
                  <a:schemeClr val="bg1"/>
                </a:solidFill>
              </a:rPr>
              <a:t>Dependencies</a:t>
            </a:r>
          </a:p>
        </p:txBody>
      </p:sp>
      <p:sp>
        <p:nvSpPr>
          <p:cNvPr id="40" name="Text 23">
            <a:extLst>
              <a:ext uri="{FF2B5EF4-FFF2-40B4-BE49-F238E27FC236}">
                <a16:creationId xmlns:a16="http://schemas.microsoft.com/office/drawing/2014/main" id="{C913210F-6B23-5B4C-57FB-4DA5CAC9BE9C}"/>
              </a:ext>
            </a:extLst>
          </p:cNvPr>
          <p:cNvSpPr/>
          <p:nvPr/>
        </p:nvSpPr>
        <p:spPr>
          <a:xfrm>
            <a:off x="-52466" y="4919472"/>
            <a:ext cx="919646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1" name="Shape 26">
            <a:extLst>
              <a:ext uri="{FF2B5EF4-FFF2-40B4-BE49-F238E27FC236}">
                <a16:creationId xmlns:a16="http://schemas.microsoft.com/office/drawing/2014/main" id="{C32698E4-320F-0487-C87E-0AB5D5DCD33F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3" descr="preencoded.png">
            <a:extLst>
              <a:ext uri="{FF2B5EF4-FFF2-40B4-BE49-F238E27FC236}">
                <a16:creationId xmlns:a16="http://schemas.microsoft.com/office/drawing/2014/main" id="{3C8641E5-A69C-AC47-7ED9-692B7E180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28" y="4818888"/>
            <a:ext cx="1425452" cy="274320"/>
          </a:xfrm>
          <a:prstGeom prst="rect">
            <a:avLst/>
          </a:prstGeom>
        </p:spPr>
      </p:pic>
      <p:sp>
        <p:nvSpPr>
          <p:cNvPr id="43" name="Shape 28">
            <a:extLst>
              <a:ext uri="{FF2B5EF4-FFF2-40B4-BE49-F238E27FC236}">
                <a16:creationId xmlns:a16="http://schemas.microsoft.com/office/drawing/2014/main" id="{38F17A9D-D124-8687-A4DC-B6427281A40B}"/>
              </a:ext>
            </a:extLst>
          </p:cNvPr>
          <p:cNvSpPr/>
          <p:nvPr/>
        </p:nvSpPr>
        <p:spPr>
          <a:xfrm>
            <a:off x="1645920" y="4846320"/>
            <a:ext cx="0" cy="228600"/>
          </a:xfrm>
          <a:prstGeom prst="line">
            <a:avLst/>
          </a:prstGeom>
          <a:noFill/>
          <a:ln w="1016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29">
            <a:extLst>
              <a:ext uri="{FF2B5EF4-FFF2-40B4-BE49-F238E27FC236}">
                <a16:creationId xmlns:a16="http://schemas.microsoft.com/office/drawing/2014/main" id="{D9C1509F-AB6D-25F8-98C2-09D614E1FFA2}"/>
              </a:ext>
            </a:extLst>
          </p:cNvPr>
          <p:cNvSpPr/>
          <p:nvPr/>
        </p:nvSpPr>
        <p:spPr>
          <a:xfrm>
            <a:off x="1754224" y="4828032"/>
            <a:ext cx="505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B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IT22273680  | Weerasinghe K G J P  |  R26-SE-015</a:t>
            </a:r>
            <a:endParaRPr lang="en-US" sz="9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C7C5DC3-3B92-979E-B19E-764BC89F6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2466" y="962368"/>
            <a:ext cx="5928310" cy="3571931"/>
          </a:xfrm>
          <a:prstGeom prst="rect">
            <a:avLst/>
          </a:prstGeom>
        </p:spPr>
      </p:pic>
      <p:sp>
        <p:nvSpPr>
          <p:cNvPr id="38" name="Shape 11">
            <a:extLst>
              <a:ext uri="{FF2B5EF4-FFF2-40B4-BE49-F238E27FC236}">
                <a16:creationId xmlns:a16="http://schemas.microsoft.com/office/drawing/2014/main" id="{731869BA-E900-8E9C-2B87-77FFB10719DF}"/>
              </a:ext>
            </a:extLst>
          </p:cNvPr>
          <p:cNvSpPr/>
          <p:nvPr/>
        </p:nvSpPr>
        <p:spPr>
          <a:xfrm>
            <a:off x="5711251" y="995813"/>
            <a:ext cx="3275352" cy="3629925"/>
          </a:xfrm>
          <a:prstGeom prst="rect">
            <a:avLst/>
          </a:prstGeom>
          <a:solidFill>
            <a:srgbClr val="2D6A4F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The predicted disease output from voice component used by the treatment recommendation component to provide advice to farmers.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Common web User Interface (Web Application) </a:t>
            </a:r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/>
          </a:p>
          <a:p>
            <a:endParaRPr lang="en-US" sz="11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Shared agricultural datasets used for model training.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Shared backend APIs for communication between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Common data storage for symptoms, predictions, and farmer interactions.</a:t>
            </a:r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3E2B348A-3946-768D-7E91-E7C431868FAB}"/>
              </a:ext>
            </a:extLst>
          </p:cNvPr>
          <p:cNvSpPr/>
          <p:nvPr/>
        </p:nvSpPr>
        <p:spPr>
          <a:xfrm>
            <a:off x="5711251" y="950094"/>
            <a:ext cx="3275352" cy="50416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21C99334-C74E-9A17-9C04-11BB6CB73CC3}"/>
              </a:ext>
            </a:extLst>
          </p:cNvPr>
          <p:cNvSpPr/>
          <p:nvPr/>
        </p:nvSpPr>
        <p:spPr>
          <a:xfrm>
            <a:off x="5729651" y="1516841"/>
            <a:ext cx="2980938" cy="6612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9FCFD46C-A299-66EA-DB13-55FA6C1B2A2B}"/>
              </a:ext>
            </a:extLst>
          </p:cNvPr>
          <p:cNvSpPr/>
          <p:nvPr/>
        </p:nvSpPr>
        <p:spPr>
          <a:xfrm>
            <a:off x="5802748" y="1417320"/>
            <a:ext cx="3078924" cy="45719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0BA8ED72-6722-6179-8C31-4CCE74967B3C}"/>
              </a:ext>
            </a:extLst>
          </p:cNvPr>
          <p:cNvSpPr/>
          <p:nvPr/>
        </p:nvSpPr>
        <p:spPr>
          <a:xfrm>
            <a:off x="5792882" y="2977464"/>
            <a:ext cx="3078924" cy="45719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8">
            <a:extLst>
              <a:ext uri="{FF2B5EF4-FFF2-40B4-BE49-F238E27FC236}">
                <a16:creationId xmlns:a16="http://schemas.microsoft.com/office/drawing/2014/main" id="{0A97357A-A49E-3DA9-919C-082966BA6BF9}"/>
              </a:ext>
            </a:extLst>
          </p:cNvPr>
          <p:cNvSpPr/>
          <p:nvPr/>
        </p:nvSpPr>
        <p:spPr>
          <a:xfrm>
            <a:off x="5711251" y="998098"/>
            <a:ext cx="3566160" cy="41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Dependencies</a:t>
            </a:r>
            <a:endParaRPr lang="en-US" sz="1200" dirty="0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E3DAA3F7-16B7-40E7-3B2B-B76A513ED753}"/>
              </a:ext>
            </a:extLst>
          </p:cNvPr>
          <p:cNvSpPr/>
          <p:nvPr/>
        </p:nvSpPr>
        <p:spPr>
          <a:xfrm>
            <a:off x="5711251" y="2558242"/>
            <a:ext cx="3566160" cy="41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Common Components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42416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255070"/>
            <a:ext cx="8641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+mj-lt"/>
                <a:ea typeface="Gadugi" panose="020B0502040204020203" pitchFamily="34" charset="0"/>
                <a:cs typeface="Georgia" pitchFamily="34" charset="-120"/>
              </a:rPr>
              <a:t>Rice Leaf Disease Classification with Out-of-Distribution Detection</a:t>
            </a:r>
            <a:endParaRPr lang="en-US" sz="3600" b="1" dirty="0">
              <a:latin typeface="+mj-lt"/>
              <a:ea typeface="Gadugi" panose="020B0502040204020203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12280" y="1115568"/>
            <a:ext cx="2103120" cy="2286000"/>
          </a:xfrm>
          <a:prstGeom prst="rect">
            <a:avLst/>
          </a:prstGeom>
          <a:solidFill>
            <a:srgbClr val="40916C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2064" y="1248664"/>
            <a:ext cx="2003552" cy="19832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097280"/>
            <a:ext cx="6309360" cy="640080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74320" y="109728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Hewanayake H.M.L.M  |  IT22168740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74320" y="1920240"/>
            <a:ext cx="54864" cy="780098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19202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 to Overall Solution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221284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Classifies rice leaf diseases from images, filters out invalid inputs, and explains predictions visually.</a:t>
            </a:r>
          </a:p>
        </p:txBody>
      </p:sp>
      <p:sp>
        <p:nvSpPr>
          <p:cNvPr id="12" name="Shape 9"/>
          <p:cNvSpPr/>
          <p:nvPr/>
        </p:nvSpPr>
        <p:spPr>
          <a:xfrm>
            <a:off x="274320" y="2834639"/>
            <a:ext cx="54864" cy="1169035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283464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57200" y="3127248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OOD detection (ODIN, Mahalanobis, OpenMax) — rejects non-rice/unknown images.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visual explanations highlighting disease lesion regions.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Multi-architecture CNN comparison: ResNet50, EfficientNetB3, DenseNet121.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IT22168740  |  Hewanayake H M L M  |  R26-SE-015</a:t>
            </a:r>
            <a:endParaRPr lang="en-US" sz="1000" dirty="0"/>
          </a:p>
        </p:txBody>
      </p:sp>
      <p:sp>
        <p:nvSpPr>
          <p:cNvPr id="18" name="Shape 87">
            <a:extLst>
              <a:ext uri="{FF2B5EF4-FFF2-40B4-BE49-F238E27FC236}">
                <a16:creationId xmlns:a16="http://schemas.microsoft.com/office/drawing/2014/main" id="{3A5F7A6A-2E8B-C329-9BD6-73D69A3FD7E5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>
            <a:extLst>
              <a:ext uri="{FF2B5EF4-FFF2-40B4-BE49-F238E27FC236}">
                <a16:creationId xmlns:a16="http://schemas.microsoft.com/office/drawing/2014/main" id="{11E14D61-509B-5EB4-78AF-5C176C7F28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4846320"/>
            <a:ext cx="1417320" cy="274320"/>
          </a:xfrm>
          <a:prstGeom prst="rect">
            <a:avLst/>
          </a:prstGeom>
        </p:spPr>
      </p:pic>
      <p:sp>
        <p:nvSpPr>
          <p:cNvPr id="20" name="Text 90">
            <a:extLst>
              <a:ext uri="{FF2B5EF4-FFF2-40B4-BE49-F238E27FC236}">
                <a16:creationId xmlns:a16="http://schemas.microsoft.com/office/drawing/2014/main" id="{020B1920-6ADB-4552-717F-F59B973D1466}"/>
              </a:ext>
            </a:extLst>
          </p:cNvPr>
          <p:cNvSpPr/>
          <p:nvPr/>
        </p:nvSpPr>
        <p:spPr>
          <a:xfrm>
            <a:off x="1792224" y="48554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IT22168740  |  Hewanayake H M L M  |  R26-SE-015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33856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37744" y="184665"/>
            <a:ext cx="8595360" cy="486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3200" b="1" dirty="0">
              <a:solidFill>
                <a:srgbClr val="FFFFFF"/>
              </a:solidFill>
              <a:latin typeface="+mj-lt"/>
              <a:ea typeface="Calibri" pitchFamily="34" charset="-122"/>
              <a:cs typeface="Calibri" pitchFamily="34" charset="-120"/>
            </a:endParaRPr>
          </a:p>
          <a:p>
            <a:r>
              <a:rPr lang="en-US" sz="32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Problem Definition &amp; Research Objective</a:t>
            </a:r>
            <a:r>
              <a:rPr lang="en-US" sz="3200" b="1" dirty="0">
                <a:solidFill>
                  <a:srgbClr val="1B2E20"/>
                </a:solidFill>
                <a:latin typeface="+mj-lt"/>
                <a:ea typeface="Calibri" pitchFamily="34" charset="-122"/>
                <a:cs typeface="Calibri" pitchFamily="34" charset="-120"/>
              </a:rPr>
              <a:t>  </a:t>
            </a:r>
            <a:endParaRPr lang="en-US" sz="3200" dirty="0">
              <a:latin typeface="+mj-lt"/>
            </a:endParaRPr>
          </a:p>
          <a:p>
            <a:r>
              <a:rPr lang="en-US" sz="32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 </a:t>
            </a:r>
            <a:endParaRPr lang="en-US" sz="3200" dirty="0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9184" y="697682"/>
            <a:ext cx="5029200" cy="347472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" y="69768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81C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 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0874" y="1199968"/>
            <a:ext cx="502920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/>
              <a:t>AI tools sometimes give wrong predictions for non-disease images.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/>
              <a:t>Wrong diagnosis → wrong pesticide use.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/>
              <a:t>Wastes money and harms the environment.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/>
              <a:t>Current tools lack image validation and clear explanations.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500" dirty="0"/>
              <a:t>Sri Lankan farmers need a reliable and understandable AI assistant.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586984" y="672084"/>
            <a:ext cx="3383280" cy="2331720"/>
          </a:xfrm>
          <a:prstGeom prst="rect">
            <a:avLst/>
          </a:prstGeom>
          <a:solidFill>
            <a:srgbClr val="D8F3D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32704" y="690372"/>
            <a:ext cx="3291840" cy="21031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86984" y="2793492"/>
            <a:ext cx="3383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09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Leaf Disease — Field Sample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74320" y="3067630"/>
            <a:ext cx="8595360" cy="30175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93450" y="3072202"/>
            <a:ext cx="8595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Research Objectives </a:t>
            </a:r>
          </a:p>
        </p:txBody>
      </p:sp>
      <p:sp>
        <p:nvSpPr>
          <p:cNvPr id="14" name="Text 11"/>
          <p:cNvSpPr/>
          <p:nvPr/>
        </p:nvSpPr>
        <p:spPr>
          <a:xfrm>
            <a:off x="274320" y="3401386"/>
            <a:ext cx="8595360" cy="144493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/>
              <a:t>Main Objective</a:t>
            </a:r>
            <a:r>
              <a:rPr lang="en-US" sz="1200" dirty="0"/>
              <a:t>: Build and test an AI model that correctly identifies rice leaf diseases (Bacterial Blight, Leaf Blast, Brown Spot, or Healthy) — and knows when to say "I don't recognize this image." Target: 92%+ accuracy, 85%+ rejection of invalid inputs.</a:t>
            </a:r>
          </a:p>
          <a:p>
            <a:pPr marL="342900" indent="-342900">
              <a:buSzPct val="100000"/>
              <a:buChar char="•"/>
            </a:pP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Sub-objectives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</a:p>
          <a:p>
            <a:pPr marL="800100" lvl="1" indent="-342900">
              <a:buSzPct val="100000"/>
              <a:buChar char="•"/>
            </a:pPr>
            <a:r>
              <a:rPr lang="en-US" sz="1200" dirty="0"/>
              <a:t>Compare three methods for detecting unknown/invalid images. (ODIN, </a:t>
            </a:r>
            <a:r>
              <a:rPr lang="en-US" sz="1200" dirty="0" err="1"/>
              <a:t>Mahalanobis</a:t>
            </a:r>
            <a:r>
              <a:rPr lang="en-US" sz="1200" dirty="0"/>
              <a:t>, </a:t>
            </a:r>
            <a:r>
              <a:rPr lang="en-US" sz="1200" dirty="0" err="1"/>
              <a:t>OpenMax</a:t>
            </a:r>
            <a:r>
              <a:rPr lang="en-US" sz="1200" dirty="0"/>
              <a:t>)</a:t>
            </a:r>
          </a:p>
          <a:p>
            <a:pPr marL="800100" lvl="1" indent="-342900">
              <a:buSzPct val="100000"/>
              <a:buChar char="•"/>
            </a:pPr>
            <a:r>
              <a:rPr lang="en-US" sz="1200" dirty="0"/>
              <a:t>Show farmers </a:t>
            </a:r>
            <a:r>
              <a:rPr lang="en-US" sz="1200" i="1" dirty="0"/>
              <a:t>where</a:t>
            </a:r>
            <a:r>
              <a:rPr lang="en-US" sz="1200" dirty="0"/>
              <a:t> on the leaf the AI spotted the disease. (Grad-CAM heatmaps)</a:t>
            </a:r>
          </a:p>
        </p:txBody>
      </p:sp>
      <p:sp>
        <p:nvSpPr>
          <p:cNvPr id="15" name="Shape 1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IT22168740  |  Hewanayake H M L M  |  R26-SE-015</a:t>
            </a:r>
            <a:endParaRPr lang="en-US" sz="1000" dirty="0"/>
          </a:p>
        </p:txBody>
      </p:sp>
      <p:sp>
        <p:nvSpPr>
          <p:cNvPr id="17" name="Shape 87">
            <a:extLst>
              <a:ext uri="{FF2B5EF4-FFF2-40B4-BE49-F238E27FC236}">
                <a16:creationId xmlns:a16="http://schemas.microsoft.com/office/drawing/2014/main" id="{B50EAC28-D552-8FB4-2927-0C553C37DF5C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C44B53D5-2661-B83F-BF2A-9B39E2FB6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4846320"/>
            <a:ext cx="1417320" cy="274320"/>
          </a:xfrm>
          <a:prstGeom prst="rect">
            <a:avLst/>
          </a:prstGeom>
        </p:spPr>
      </p:pic>
      <p:sp>
        <p:nvSpPr>
          <p:cNvPr id="19" name="Text 90">
            <a:extLst>
              <a:ext uri="{FF2B5EF4-FFF2-40B4-BE49-F238E27FC236}">
                <a16:creationId xmlns:a16="http://schemas.microsoft.com/office/drawing/2014/main" id="{A852AE16-4155-FB0D-DC5F-2709C4C328A0}"/>
              </a:ext>
            </a:extLst>
          </p:cNvPr>
          <p:cNvSpPr/>
          <p:nvPr/>
        </p:nvSpPr>
        <p:spPr>
          <a:xfrm>
            <a:off x="1792224" y="48554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IT22168740  |  Hewanayake H M L M  |  R26-SE-015</a:t>
            </a:r>
            <a:endParaRPr lang="en-US" sz="900" dirty="0"/>
          </a:p>
        </p:txBody>
      </p:sp>
      <p:sp>
        <p:nvSpPr>
          <p:cNvPr id="20" name="Rectangle 1">
            <a:extLst>
              <a:ext uri="{FF2B5EF4-FFF2-40B4-BE49-F238E27FC236}">
                <a16:creationId xmlns:a16="http://schemas.microsoft.com/office/drawing/2014/main" id="{DAB4FA13-1719-8CB7-A416-F585453A0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7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00228B68-B3D6-270C-E50E-849AAE1B6D9E}"/>
              </a:ext>
            </a:extLst>
          </p:cNvPr>
          <p:cNvSpPr/>
          <p:nvPr/>
        </p:nvSpPr>
        <p:spPr>
          <a:xfrm>
            <a:off x="0" y="-76906"/>
            <a:ext cx="9144000" cy="3693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Gadugi" panose="020B0502040204020203" pitchFamily="34" charset="0"/>
                <a:ea typeface="Gadugi" panose="020B0502040204020203" pitchFamily="34" charset="0"/>
                <a:cs typeface="Georgia" pitchFamily="34" charset="-120"/>
              </a:rPr>
              <a:t>Rice Leaf Disease Classification with Out-of-Distribution Detection</a:t>
            </a:r>
            <a:endParaRPr lang="en-US" sz="11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Shape 4">
            <a:extLst>
              <a:ext uri="{FF2B5EF4-FFF2-40B4-BE49-F238E27FC236}">
                <a16:creationId xmlns:a16="http://schemas.microsoft.com/office/drawing/2014/main" id="{7AE1B044-96D1-7604-8785-C105ED5E768E}"/>
              </a:ext>
            </a:extLst>
          </p:cNvPr>
          <p:cNvSpPr/>
          <p:nvPr/>
        </p:nvSpPr>
        <p:spPr>
          <a:xfrm>
            <a:off x="4682744" y="701369"/>
            <a:ext cx="4298696" cy="347472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1" name="Shape 4">
            <a:extLst>
              <a:ext uri="{FF2B5EF4-FFF2-40B4-BE49-F238E27FC236}">
                <a16:creationId xmlns:a16="http://schemas.microsoft.com/office/drawing/2014/main" id="{89446081-271A-4E6B-0119-CFEDA1D5B42E}"/>
              </a:ext>
            </a:extLst>
          </p:cNvPr>
          <p:cNvSpPr/>
          <p:nvPr/>
        </p:nvSpPr>
        <p:spPr>
          <a:xfrm>
            <a:off x="38607" y="701369"/>
            <a:ext cx="3695193" cy="347472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Shape 0"/>
          <p:cNvSpPr/>
          <p:nvPr/>
        </p:nvSpPr>
        <p:spPr>
          <a:xfrm>
            <a:off x="0" y="-1"/>
            <a:ext cx="9144000" cy="668403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25026"/>
            <a:ext cx="8595360" cy="3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Methodology &amp; </a:t>
            </a:r>
            <a:r>
              <a:rPr lang="en-US" sz="3200" b="1" dirty="0">
                <a:solidFill>
                  <a:schemeClr val="bg1"/>
                </a:solidFill>
                <a:latin typeface="+mj-lt"/>
              </a:rPr>
              <a:t>Latest Technologies</a:t>
            </a:r>
            <a:r>
              <a:rPr lang="en-US" sz="3200" b="1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  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IT22168740  |  Hewanayake H M L M  |  R26-SE-015</a:t>
            </a:r>
            <a:endParaRPr lang="en-US" sz="1000" dirty="0"/>
          </a:p>
        </p:txBody>
      </p:sp>
      <p:sp>
        <p:nvSpPr>
          <p:cNvPr id="26" name="Shape 87">
            <a:extLst>
              <a:ext uri="{FF2B5EF4-FFF2-40B4-BE49-F238E27FC236}">
                <a16:creationId xmlns:a16="http://schemas.microsoft.com/office/drawing/2014/main" id="{46E6F6FC-9311-E730-30E5-EB5438E0E426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>
            <a:extLst>
              <a:ext uri="{FF2B5EF4-FFF2-40B4-BE49-F238E27FC236}">
                <a16:creationId xmlns:a16="http://schemas.microsoft.com/office/drawing/2014/main" id="{F2C21CD9-0F3C-122A-CBEB-ADBFB58AA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846320"/>
            <a:ext cx="1417320" cy="274320"/>
          </a:xfrm>
          <a:prstGeom prst="rect">
            <a:avLst/>
          </a:prstGeom>
        </p:spPr>
      </p:pic>
      <p:sp>
        <p:nvSpPr>
          <p:cNvPr id="28" name="Text 90">
            <a:extLst>
              <a:ext uri="{FF2B5EF4-FFF2-40B4-BE49-F238E27FC236}">
                <a16:creationId xmlns:a16="http://schemas.microsoft.com/office/drawing/2014/main" id="{F774D6BE-62E8-4ADC-3067-B6E549068716}"/>
              </a:ext>
            </a:extLst>
          </p:cNvPr>
          <p:cNvSpPr/>
          <p:nvPr/>
        </p:nvSpPr>
        <p:spPr>
          <a:xfrm>
            <a:off x="1792224" y="48554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IT22168740  |  Hewanayake H M L M  |  R26-SE-015</a:t>
            </a:r>
            <a:endParaRPr lang="en-US" sz="900" dirty="0"/>
          </a:p>
        </p:txBody>
      </p:sp>
      <p:sp>
        <p:nvSpPr>
          <p:cNvPr id="212" name="Shape 87">
            <a:extLst>
              <a:ext uri="{FF2B5EF4-FFF2-40B4-BE49-F238E27FC236}">
                <a16:creationId xmlns:a16="http://schemas.microsoft.com/office/drawing/2014/main" id="{E43A0D3D-9CA6-C30D-1A6D-057D96F5C19D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3" name="Shape 88">
            <a:extLst>
              <a:ext uri="{FF2B5EF4-FFF2-40B4-BE49-F238E27FC236}">
                <a16:creationId xmlns:a16="http://schemas.microsoft.com/office/drawing/2014/main" id="{4FD2F82F-1335-5C12-DEE3-902F01951F0D}"/>
              </a:ext>
            </a:extLst>
          </p:cNvPr>
          <p:cNvSpPr/>
          <p:nvPr/>
        </p:nvSpPr>
        <p:spPr>
          <a:xfrm>
            <a:off x="0" y="4893893"/>
            <a:ext cx="9144000" cy="0"/>
          </a:xfrm>
          <a:prstGeom prst="line">
            <a:avLst/>
          </a:prstGeom>
          <a:noFill/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14" name="Image 1" descr="preencoded.png">
            <a:extLst>
              <a:ext uri="{FF2B5EF4-FFF2-40B4-BE49-F238E27FC236}">
                <a16:creationId xmlns:a16="http://schemas.microsoft.com/office/drawing/2014/main" id="{AA4F58F2-056C-5F0C-9A9F-35F7D88AF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846320"/>
            <a:ext cx="1417320" cy="274320"/>
          </a:xfrm>
          <a:prstGeom prst="rect">
            <a:avLst/>
          </a:prstGeom>
        </p:spPr>
      </p:pic>
      <p:sp>
        <p:nvSpPr>
          <p:cNvPr id="215" name="Shape 89">
            <a:extLst>
              <a:ext uri="{FF2B5EF4-FFF2-40B4-BE49-F238E27FC236}">
                <a16:creationId xmlns:a16="http://schemas.microsoft.com/office/drawing/2014/main" id="{5836B896-167A-7A3E-39E3-95752BBAD1F1}"/>
              </a:ext>
            </a:extLst>
          </p:cNvPr>
          <p:cNvSpPr/>
          <p:nvPr/>
        </p:nvSpPr>
        <p:spPr>
          <a:xfrm>
            <a:off x="1664208" y="4873752"/>
            <a:ext cx="0" cy="219456"/>
          </a:xfrm>
          <a:prstGeom prst="line">
            <a:avLst/>
          </a:prstGeom>
          <a:noFill/>
          <a:ln w="1016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6" name="Text 90">
            <a:extLst>
              <a:ext uri="{FF2B5EF4-FFF2-40B4-BE49-F238E27FC236}">
                <a16:creationId xmlns:a16="http://schemas.microsoft.com/office/drawing/2014/main" id="{1F4D022B-4702-1615-59DC-8452E90CA3FD}"/>
              </a:ext>
            </a:extLst>
          </p:cNvPr>
          <p:cNvSpPr/>
          <p:nvPr/>
        </p:nvSpPr>
        <p:spPr>
          <a:xfrm>
            <a:off x="1792224" y="48554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IT22168740  |  Hewanayake H M L M  |  R26-SE-015</a:t>
            </a:r>
            <a:endParaRPr lang="en-US" sz="900" dirty="0"/>
          </a:p>
        </p:txBody>
      </p:sp>
      <p:sp>
        <p:nvSpPr>
          <p:cNvPr id="217" name="Text 91">
            <a:extLst>
              <a:ext uri="{FF2B5EF4-FFF2-40B4-BE49-F238E27FC236}">
                <a16:creationId xmlns:a16="http://schemas.microsoft.com/office/drawing/2014/main" id="{0F448469-0C34-36FF-7EE6-BA4895C2C177}"/>
              </a:ext>
            </a:extLst>
          </p:cNvPr>
          <p:cNvSpPr/>
          <p:nvPr/>
        </p:nvSpPr>
        <p:spPr>
          <a:xfrm>
            <a:off x="8778240" y="4873752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8FB4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95F15644-F855-F174-D589-93A8BA4A8C93}"/>
              </a:ext>
            </a:extLst>
          </p:cNvPr>
          <p:cNvSpPr txBox="1"/>
          <p:nvPr/>
        </p:nvSpPr>
        <p:spPr>
          <a:xfrm>
            <a:off x="50799" y="687653"/>
            <a:ext cx="452120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chemeClr val="bg1"/>
                </a:solidFill>
              </a:rPr>
              <a:t>Research Methodology:</a:t>
            </a:r>
          </a:p>
          <a:p>
            <a:pPr>
              <a:buNone/>
            </a:pPr>
            <a:endParaRPr lang="en-US" sz="1400" dirty="0">
              <a:solidFill>
                <a:srgbClr val="1B4332"/>
              </a:solidFill>
            </a:endParaRPr>
          </a:p>
          <a:p>
            <a:pPr>
              <a:buNone/>
            </a:pPr>
            <a:r>
              <a:rPr lang="en-US" sz="1400" b="1" dirty="0">
                <a:solidFill>
                  <a:srgbClr val="1B4332"/>
                </a:solidFill>
              </a:rPr>
              <a:t>DSR — Build → Test → Refine (6 Phases)</a:t>
            </a:r>
            <a:endParaRPr lang="en-US" sz="1400" dirty="0">
              <a:solidFill>
                <a:srgbClr val="1B4332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400" b="1" dirty="0"/>
              <a:t>Dataset Preparation</a:t>
            </a:r>
            <a:r>
              <a:rPr lang="en-US" sz="1400" dirty="0"/>
              <a:t> — Collect &amp; clean rice leaf images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Model Training</a:t>
            </a:r>
            <a:r>
              <a:rPr lang="en-US" sz="1400" dirty="0"/>
              <a:t>          — Train 3 CNN models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OOD Integration</a:t>
            </a:r>
            <a:r>
              <a:rPr lang="en-US" sz="1400" dirty="0"/>
              <a:t>        — Add rejection capability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Explainability            </a:t>
            </a:r>
            <a:r>
              <a:rPr lang="en-US" sz="1400" dirty="0"/>
              <a:t> — Add Grad-CAM heatmaps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API Deploy</a:t>
            </a:r>
            <a:r>
              <a:rPr lang="en-US" sz="1400" dirty="0"/>
              <a:t>                  — Package &amp; deploy to mobile</a:t>
            </a:r>
          </a:p>
          <a:p>
            <a:pPr>
              <a:buFont typeface="+mj-lt"/>
              <a:buAutoNum type="arabicPeriod"/>
            </a:pPr>
            <a:r>
              <a:rPr lang="en-US" sz="1400" b="1" dirty="0"/>
              <a:t>Evaluation</a:t>
            </a:r>
            <a:r>
              <a:rPr lang="en-US" sz="1400" dirty="0"/>
              <a:t>                   — Measure accuracy &amp; performance</a:t>
            </a:r>
          </a:p>
        </p:txBody>
      </p:sp>
      <p:sp>
        <p:nvSpPr>
          <p:cNvPr id="237" name="TextBox 236">
            <a:extLst>
              <a:ext uri="{FF2B5EF4-FFF2-40B4-BE49-F238E27FC236}">
                <a16:creationId xmlns:a16="http://schemas.microsoft.com/office/drawing/2014/main" id="{62B2F224-82E4-8C3B-261E-3367CEC65C25}"/>
              </a:ext>
            </a:extLst>
          </p:cNvPr>
          <p:cNvSpPr txBox="1"/>
          <p:nvPr/>
        </p:nvSpPr>
        <p:spPr>
          <a:xfrm>
            <a:off x="4608577" y="684097"/>
            <a:ext cx="4579536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400" b="1" dirty="0">
                <a:solidFill>
                  <a:schemeClr val="bg1"/>
                </a:solidFill>
              </a:rPr>
              <a:t>Latest Technologies:</a:t>
            </a:r>
          </a:p>
          <a:p>
            <a:pPr>
              <a:buNone/>
            </a:pPr>
            <a:endParaRPr lang="en-US" sz="1400" dirty="0">
              <a:solidFill>
                <a:srgbClr val="1B4332"/>
              </a:solidFill>
            </a:endParaRPr>
          </a:p>
          <a:p>
            <a:pPr>
              <a:buNone/>
            </a:pP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Disease Detection (CNN)</a:t>
            </a:r>
            <a:endParaRPr lang="en-US" sz="1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ResNet50, EfficientNetB3, DenseNet121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Transfer Learning from ImageNet</a:t>
            </a:r>
          </a:p>
          <a:p>
            <a:pPr lvl="1"/>
            <a:endParaRPr lang="en-US" sz="1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Unknown Image Rejection (OOD)</a:t>
            </a:r>
            <a:endParaRPr lang="en-US" sz="1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ODIN, </a:t>
            </a:r>
            <a:r>
              <a:rPr lang="en-US" sz="1400" dirty="0" err="1">
                <a:solidFill>
                  <a:schemeClr val="tx2"/>
                </a:solidFill>
              </a:rPr>
              <a:t>Mahalanobis</a:t>
            </a:r>
            <a:r>
              <a:rPr lang="en-US" sz="1400" dirty="0">
                <a:solidFill>
                  <a:schemeClr val="tx2"/>
                </a:solidFill>
              </a:rPr>
              <a:t> Distance, </a:t>
            </a:r>
            <a:r>
              <a:rPr lang="en-US" sz="1400" dirty="0" err="1">
                <a:solidFill>
                  <a:schemeClr val="tx2"/>
                </a:solidFill>
              </a:rPr>
              <a:t>OpenMax</a:t>
            </a:r>
            <a:endParaRPr lang="en-US" sz="1400" dirty="0">
              <a:solidFill>
                <a:schemeClr val="tx2"/>
              </a:solidFill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No retraining needed</a:t>
            </a:r>
          </a:p>
          <a:p>
            <a:pPr lvl="1"/>
            <a:endParaRPr lang="en-US" sz="1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Explainability</a:t>
            </a:r>
            <a:endParaRPr lang="en-US" sz="1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Grad-CAM — shows </a:t>
            </a:r>
            <a:r>
              <a:rPr lang="en-US" sz="1400" i="1" dirty="0">
                <a:solidFill>
                  <a:schemeClr val="tx2"/>
                </a:solidFill>
              </a:rPr>
              <a:t>where</a:t>
            </a:r>
            <a:r>
              <a:rPr lang="en-US" sz="1400" dirty="0">
                <a:solidFill>
                  <a:schemeClr val="tx2"/>
                </a:solidFill>
              </a:rPr>
              <a:t> disease is on the leaf</a:t>
            </a:r>
          </a:p>
          <a:p>
            <a:pPr lvl="1"/>
            <a:endParaRPr lang="en-US" sz="1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Deployment Stack</a:t>
            </a:r>
            <a:endParaRPr lang="en-US" sz="1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chemeClr val="tx2"/>
                </a:solidFill>
              </a:rPr>
              <a:t>FastAPI</a:t>
            </a:r>
            <a:r>
              <a:rPr lang="en-US" sz="1400" dirty="0">
                <a:solidFill>
                  <a:schemeClr val="tx2"/>
                </a:solidFill>
              </a:rPr>
              <a:t> + Docker + TensorFlow Lite (mobile)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React.js frontend + MongoDB + TLS 1.3 security</a:t>
            </a:r>
          </a:p>
          <a:p>
            <a:pPr lvl="1"/>
            <a:endParaRPr lang="en-US" sz="1400" dirty="0">
              <a:solidFill>
                <a:schemeClr val="tx2"/>
              </a:solidFill>
            </a:endParaRPr>
          </a:p>
        </p:txBody>
      </p:sp>
      <p:pic>
        <p:nvPicPr>
          <p:cNvPr id="239" name="Picture 238">
            <a:extLst>
              <a:ext uri="{FF2B5EF4-FFF2-40B4-BE49-F238E27FC236}">
                <a16:creationId xmlns:a16="http://schemas.microsoft.com/office/drawing/2014/main" id="{8CC79107-E5D3-D734-5B3F-2FC9CB1F8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366" y="2788886"/>
            <a:ext cx="4117845" cy="2148441"/>
          </a:xfrm>
          <a:prstGeom prst="rect">
            <a:avLst/>
          </a:prstGeom>
        </p:spPr>
      </p:pic>
      <p:sp>
        <p:nvSpPr>
          <p:cNvPr id="4" name="Text 11">
            <a:extLst>
              <a:ext uri="{FF2B5EF4-FFF2-40B4-BE49-F238E27FC236}">
                <a16:creationId xmlns:a16="http://schemas.microsoft.com/office/drawing/2014/main" id="{666D1102-FA53-145E-66D2-1DCDB1EF6274}"/>
              </a:ext>
            </a:extLst>
          </p:cNvPr>
          <p:cNvSpPr/>
          <p:nvPr/>
        </p:nvSpPr>
        <p:spPr>
          <a:xfrm>
            <a:off x="0" y="-76906"/>
            <a:ext cx="9144000" cy="3693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Gadugi" panose="020B0502040204020203" pitchFamily="34" charset="0"/>
                <a:ea typeface="Gadugi" panose="020B0502040204020203" pitchFamily="34" charset="0"/>
                <a:cs typeface="Georgia" pitchFamily="34" charset="-120"/>
              </a:rPr>
              <a:t>Rice Leaf Disease Classification with Out-of-Distribution Detection</a:t>
            </a:r>
            <a:endParaRPr lang="en-US" sz="11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"/>
            <a:ext cx="9144000" cy="669669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19456"/>
            <a:ext cx="8595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Methodology &amp; </a:t>
            </a:r>
            <a:r>
              <a:rPr lang="en-US" sz="3200" b="1" dirty="0">
                <a:solidFill>
                  <a:schemeClr val="bg1"/>
                </a:solidFill>
                <a:latin typeface="+mj-lt"/>
              </a:rPr>
              <a:t>Latest Technologies</a:t>
            </a:r>
            <a:r>
              <a:rPr lang="en-US" sz="3200" b="1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  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6858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DOMAIN KNOWLEDGE  —  Continued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722376"/>
            <a:ext cx="4206240" cy="34747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" y="7223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Evaluation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536192"/>
            <a:ext cx="4206240" cy="28437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Disease Classification — target above 92%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Unknown Image Rejection— target above 85%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Grad-CAM heatmaps validated by an agricultural domain expert to confirm disease region accuracy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Inference latency benchmarked below 500ms for real-world mobile deployment</a:t>
            </a:r>
          </a:p>
          <a:p>
            <a:pPr>
              <a:spcAft>
                <a:spcPts val="300"/>
              </a:spcAft>
              <a:buSzPct val="100000"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722376"/>
            <a:ext cx="4206240" cy="34747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73837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Security &amp; Ethical Clearance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29868"/>
            <a:ext cx="4206240" cy="27432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245999"/>
            <a:ext cx="4114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Availability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683004"/>
            <a:ext cx="4206240" cy="77266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PlantVillage, Kaggle rice disease datasets. (public domain)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Locally collected Sri Lankan field images (farmer consent. obtained)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 probe set: non-rice plants, insects, soil backgrounds, unseen diseases.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601468"/>
            <a:ext cx="4206240" cy="27432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2560320"/>
            <a:ext cx="4114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852928"/>
            <a:ext cx="420624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 encryption for all client-server communication.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not permanently stored without explicit user consent.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346704"/>
            <a:ext cx="4206240" cy="274320"/>
          </a:xfrm>
          <a:prstGeom prst="rect">
            <a:avLst/>
          </a:prstGeom>
          <a:solidFill>
            <a:srgbClr val="D8F3DC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3346704"/>
            <a:ext cx="4114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Clearance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3639312"/>
            <a:ext cx="420624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personally identifiable information (PII) collected in image dataset.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with Sri Lanka Personal Data Protection Act. (PDPA)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 SLIIT Faculty Research Ethics Committee.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IT22168740  |  Hewanayake H M L M  |  R26-SE-015</a:t>
            </a:r>
            <a:endParaRPr lang="en-US" sz="1000" dirty="0"/>
          </a:p>
        </p:txBody>
      </p:sp>
      <p:sp>
        <p:nvSpPr>
          <p:cNvPr id="22" name="Shape 87">
            <a:extLst>
              <a:ext uri="{FF2B5EF4-FFF2-40B4-BE49-F238E27FC236}">
                <a16:creationId xmlns:a16="http://schemas.microsoft.com/office/drawing/2014/main" id="{2BA569DB-411D-BA3C-37D9-8586E38B8B7F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>
            <a:extLst>
              <a:ext uri="{FF2B5EF4-FFF2-40B4-BE49-F238E27FC236}">
                <a16:creationId xmlns:a16="http://schemas.microsoft.com/office/drawing/2014/main" id="{E15C90AD-745F-8580-F30C-57B0E432A0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846320"/>
            <a:ext cx="1417320" cy="274320"/>
          </a:xfrm>
          <a:prstGeom prst="rect">
            <a:avLst/>
          </a:prstGeom>
        </p:spPr>
      </p:pic>
      <p:sp>
        <p:nvSpPr>
          <p:cNvPr id="24" name="Text 90">
            <a:extLst>
              <a:ext uri="{FF2B5EF4-FFF2-40B4-BE49-F238E27FC236}">
                <a16:creationId xmlns:a16="http://schemas.microsoft.com/office/drawing/2014/main" id="{E89EAD53-FD60-E646-D56E-C3098E33F770}"/>
              </a:ext>
            </a:extLst>
          </p:cNvPr>
          <p:cNvSpPr/>
          <p:nvPr/>
        </p:nvSpPr>
        <p:spPr>
          <a:xfrm>
            <a:off x="1792224" y="48554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IT22168740  |  Hewanayake H M L M  |  R26-SE-015</a:t>
            </a:r>
            <a:endParaRPr lang="en-US" sz="900" dirty="0"/>
          </a:p>
        </p:txBody>
      </p:sp>
      <p:sp>
        <p:nvSpPr>
          <p:cNvPr id="4" name="Text 11">
            <a:extLst>
              <a:ext uri="{FF2B5EF4-FFF2-40B4-BE49-F238E27FC236}">
                <a16:creationId xmlns:a16="http://schemas.microsoft.com/office/drawing/2014/main" id="{EBBC44EB-42F9-05AF-B754-87A054CFB558}"/>
              </a:ext>
            </a:extLst>
          </p:cNvPr>
          <p:cNvSpPr/>
          <p:nvPr/>
        </p:nvSpPr>
        <p:spPr>
          <a:xfrm>
            <a:off x="0" y="-76906"/>
            <a:ext cx="9144000" cy="3693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Gadugi" panose="020B0502040204020203" pitchFamily="34" charset="0"/>
                <a:ea typeface="Gadugi" panose="020B0502040204020203" pitchFamily="34" charset="0"/>
                <a:cs typeface="Georgia" pitchFamily="34" charset="-120"/>
              </a:rPr>
              <a:t>Rice Leaf Disease Classification with Out-of-Distribution Detection</a:t>
            </a:r>
            <a:endParaRPr lang="en-US" sz="11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3796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225026"/>
            <a:ext cx="8595360" cy="369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System Overview &amp; Dependencies</a:t>
            </a:r>
            <a:endParaRPr lang="en-US" sz="3200" dirty="0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96672" y="681228"/>
            <a:ext cx="54864" cy="320040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91641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of the Individual Component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74320" y="2926080"/>
            <a:ext cx="54864" cy="320040"/>
          </a:xfrm>
          <a:prstGeom prst="rect">
            <a:avLst/>
          </a:prstGeom>
          <a:solidFill>
            <a:srgbClr val="74C69D"/>
          </a:solidFill>
          <a:ln w="12700">
            <a:solidFill>
              <a:srgbClr val="74C69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and Common Components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274320" y="3273552"/>
            <a:ext cx="8950960" cy="15133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r>
              <a:rPr lang="en-US" sz="1150" b="1" dirty="0"/>
              <a:t>Component 1 — Voice Diagnosis</a:t>
            </a:r>
          </a:p>
          <a:p>
            <a:r>
              <a:rPr lang="en-US" sz="1150" dirty="0"/>
              <a:t>Component 1 and my component share the same backend server and database.</a:t>
            </a:r>
          </a:p>
          <a:p>
            <a:endParaRPr lang="en-US" sz="1150" dirty="0"/>
          </a:p>
          <a:p>
            <a:r>
              <a:rPr lang="en-US" sz="1150" b="1" dirty="0"/>
              <a:t>Component 3 — Treatment Chatbot </a:t>
            </a:r>
          </a:p>
          <a:p>
            <a:r>
              <a:rPr lang="en-US" sz="1150" dirty="0"/>
              <a:t>my component identifies the disease, it sends the result directly to Component 3, which then gives the farmer the treatment advice.“</a:t>
            </a:r>
          </a:p>
          <a:p>
            <a:endParaRPr lang="en-US" sz="1150" dirty="0"/>
          </a:p>
          <a:p>
            <a:r>
              <a:rPr lang="en-US" sz="1150" b="1" dirty="0"/>
              <a:t>Component 4 — Pest Detection </a:t>
            </a:r>
          </a:p>
          <a:p>
            <a:r>
              <a:rPr lang="en-US" sz="1150" dirty="0"/>
              <a:t>Component 4 and my component use the same mobile app screen and the same image upload button  so the farmer only learns one interface.</a:t>
            </a:r>
          </a:p>
        </p:txBody>
      </p:sp>
      <p:sp>
        <p:nvSpPr>
          <p:cNvPr id="60" name="Shape 58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0" y="48234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IT22168740  |  Hewanayake H M L M  |  R26-SE-015</a:t>
            </a:r>
            <a:endParaRPr lang="en-US" sz="1000" dirty="0"/>
          </a:p>
        </p:txBody>
      </p:sp>
      <p:sp>
        <p:nvSpPr>
          <p:cNvPr id="62" name="Shape 87">
            <a:extLst>
              <a:ext uri="{FF2B5EF4-FFF2-40B4-BE49-F238E27FC236}">
                <a16:creationId xmlns:a16="http://schemas.microsoft.com/office/drawing/2014/main" id="{E11C751B-0E11-EE21-88F6-C8F912E1F820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Image 1" descr="preencoded.png">
            <a:extLst>
              <a:ext uri="{FF2B5EF4-FFF2-40B4-BE49-F238E27FC236}">
                <a16:creationId xmlns:a16="http://schemas.microsoft.com/office/drawing/2014/main" id="{CDA41054-C25E-5DF1-3ABB-BC14B1D96F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846320"/>
            <a:ext cx="1417320" cy="274320"/>
          </a:xfrm>
          <a:prstGeom prst="rect">
            <a:avLst/>
          </a:prstGeom>
        </p:spPr>
      </p:pic>
      <p:sp>
        <p:nvSpPr>
          <p:cNvPr id="64" name="Text 90">
            <a:extLst>
              <a:ext uri="{FF2B5EF4-FFF2-40B4-BE49-F238E27FC236}">
                <a16:creationId xmlns:a16="http://schemas.microsoft.com/office/drawing/2014/main" id="{7B6FC33C-DB16-F7DF-AE75-0BFABDD68CFB}"/>
              </a:ext>
            </a:extLst>
          </p:cNvPr>
          <p:cNvSpPr/>
          <p:nvPr/>
        </p:nvSpPr>
        <p:spPr>
          <a:xfrm>
            <a:off x="1792224" y="48554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IT22168740  |  Hewanayake H M L M  |  R26-SE-015</a:t>
            </a:r>
            <a:endParaRPr lang="en-US" sz="900" dirty="0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171FC5B4-B878-1F1E-4859-8AA74D1E526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770" b="7435"/>
          <a:stretch>
            <a:fillRect/>
          </a:stretch>
        </p:blipFill>
        <p:spPr>
          <a:xfrm>
            <a:off x="1554480" y="904875"/>
            <a:ext cx="5445760" cy="2079850"/>
          </a:xfrm>
          <a:prstGeom prst="rect">
            <a:avLst/>
          </a:prstGeom>
        </p:spPr>
      </p:pic>
      <p:sp>
        <p:nvSpPr>
          <p:cNvPr id="4" name="Text 11">
            <a:extLst>
              <a:ext uri="{FF2B5EF4-FFF2-40B4-BE49-F238E27FC236}">
                <a16:creationId xmlns:a16="http://schemas.microsoft.com/office/drawing/2014/main" id="{AF9A1925-F737-ACDC-0DB4-E00AD482714D}"/>
              </a:ext>
            </a:extLst>
          </p:cNvPr>
          <p:cNvSpPr/>
          <p:nvPr/>
        </p:nvSpPr>
        <p:spPr>
          <a:xfrm>
            <a:off x="0" y="-76906"/>
            <a:ext cx="9144000" cy="3693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Gadugi" panose="020B0502040204020203" pitchFamily="34" charset="0"/>
                <a:ea typeface="Gadugi" panose="020B0502040204020203" pitchFamily="34" charset="0"/>
                <a:cs typeface="Georgia" pitchFamily="34" charset="-120"/>
              </a:rPr>
              <a:t>Rice Leaf Disease Classification with Out-of-Distribution Detection</a:t>
            </a:r>
            <a:endParaRPr lang="en-US" sz="1100" dirty="0"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73152"/>
            <a:ext cx="73152" cy="50703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623714"/>
            <a:ext cx="6583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+mj-lt"/>
                <a:ea typeface="Calibri" pitchFamily="34" charset="-122"/>
                <a:cs typeface="Calibri" pitchFamily="34" charset="-120"/>
              </a:rPr>
              <a:t>A Multimodal AI System for </a:t>
            </a:r>
          </a:p>
          <a:p>
            <a:r>
              <a:rPr lang="en-US" sz="3600" b="1" dirty="0">
                <a:latin typeface="+mj-lt"/>
                <a:ea typeface="Calibri" pitchFamily="34" charset="-122"/>
                <a:cs typeface="Calibri" pitchFamily="34" charset="-120"/>
              </a:rPr>
              <a:t>Rice Pest Detection </a:t>
            </a:r>
            <a:endParaRPr lang="en-US" sz="3600" b="1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66447" y="17080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latin typeface="+mj-lt"/>
                <a:ea typeface="Calibri" pitchFamily="34" charset="-122"/>
                <a:cs typeface="Calibri" pitchFamily="34" charset="-120"/>
              </a:rPr>
              <a:t>With Out-of-Distribution Detection</a:t>
            </a:r>
            <a:endParaRPr lang="en-US" sz="3200" b="1" dirty="0">
              <a:latin typeface="+mj-lt"/>
            </a:endParaRPr>
          </a:p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66928" y="2276715"/>
            <a:ext cx="5943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2356" y="273405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IT22065858</a:t>
            </a:r>
            <a:r>
              <a:rPr lang="en-US" dirty="0"/>
              <a:t>  </a:t>
            </a:r>
            <a:r>
              <a:rPr lang="en-US" sz="1400" dirty="0"/>
              <a:t>           </a:t>
            </a:r>
            <a:r>
              <a:rPr lang="en-US" sz="1400" dirty="0">
                <a:solidFill>
                  <a:schemeClr val="bg1"/>
                </a:solidFill>
              </a:rPr>
              <a:t>|</a:t>
            </a:r>
            <a:r>
              <a:rPr lang="en-US" sz="1400" dirty="0"/>
              <a:t>            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 K KALHARA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48640" y="3273552"/>
            <a:ext cx="713526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200" dirty="0"/>
          </a:p>
          <a:p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5D5B2"/>
                </a:solidFill>
              </a:rPr>
              <a:t>Department of Information Technology  |  Sri Lanka Institute of Information Technology</a:t>
            </a:r>
            <a:endParaRPr lang="en-US" sz="9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9324A8A-69A4-EFCE-35A3-68259A869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9134" y="182880"/>
            <a:ext cx="1452372" cy="16184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30" name="Shape 32">
            <a:extLst>
              <a:ext uri="{FF2B5EF4-FFF2-40B4-BE49-F238E27FC236}">
                <a16:creationId xmlns:a16="http://schemas.microsoft.com/office/drawing/2014/main" id="{8DA30B56-AC57-A0E6-1417-2A90601AB739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1" descr="preencoded.png">
            <a:extLst>
              <a:ext uri="{FF2B5EF4-FFF2-40B4-BE49-F238E27FC236}">
                <a16:creationId xmlns:a16="http://schemas.microsoft.com/office/drawing/2014/main" id="{A86209B1-A8B5-FC15-2DCB-1395A8095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" y="4837176"/>
            <a:ext cx="1417320" cy="274320"/>
          </a:xfrm>
          <a:prstGeom prst="rect">
            <a:avLst/>
          </a:prstGeom>
        </p:spPr>
      </p:pic>
      <p:sp>
        <p:nvSpPr>
          <p:cNvPr id="32" name="Text 35">
            <a:extLst>
              <a:ext uri="{FF2B5EF4-FFF2-40B4-BE49-F238E27FC236}">
                <a16:creationId xmlns:a16="http://schemas.microsoft.com/office/drawing/2014/main" id="{B6589109-6D9F-AD93-3506-77216028D87C}"/>
              </a:ext>
            </a:extLst>
          </p:cNvPr>
          <p:cNvSpPr/>
          <p:nvPr/>
        </p:nvSpPr>
        <p:spPr>
          <a:xfrm>
            <a:off x="1783080" y="4846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B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IT22065858  |  KALHARA E P K |  R26-SE-015</a:t>
            </a:r>
            <a:endParaRPr lang="en-US" sz="900" dirty="0"/>
          </a:p>
        </p:txBody>
      </p:sp>
      <p:sp>
        <p:nvSpPr>
          <p:cNvPr id="45" name="Shape 7">
            <a:extLst>
              <a:ext uri="{FF2B5EF4-FFF2-40B4-BE49-F238E27FC236}">
                <a16:creationId xmlns:a16="http://schemas.microsoft.com/office/drawing/2014/main" id="{1891FC98-FB81-CB06-1CD4-2FD113968D13}"/>
              </a:ext>
            </a:extLst>
          </p:cNvPr>
          <p:cNvSpPr/>
          <p:nvPr/>
        </p:nvSpPr>
        <p:spPr>
          <a:xfrm>
            <a:off x="502920" y="3134329"/>
            <a:ext cx="54864" cy="71323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8">
            <a:extLst>
              <a:ext uri="{FF2B5EF4-FFF2-40B4-BE49-F238E27FC236}">
                <a16:creationId xmlns:a16="http://schemas.microsoft.com/office/drawing/2014/main" id="{421106A2-33EB-60B5-5FBB-748D30639D63}"/>
              </a:ext>
            </a:extLst>
          </p:cNvPr>
          <p:cNvSpPr/>
          <p:nvPr/>
        </p:nvSpPr>
        <p:spPr>
          <a:xfrm>
            <a:off x="685800" y="3134329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</a:rPr>
              <a:t>Contribution of component to the overall solution</a:t>
            </a:r>
            <a:endParaRPr lang="en-US" sz="1200" dirty="0"/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428E1AB2-16F5-3008-A33F-F63C44E82F39}"/>
              </a:ext>
            </a:extLst>
          </p:cNvPr>
          <p:cNvSpPr/>
          <p:nvPr/>
        </p:nvSpPr>
        <p:spPr>
          <a:xfrm>
            <a:off x="685800" y="3344641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/>
              <a:t>Automatic detection of rice pests from images, helping farmers identify pest infestations early.</a:t>
            </a:r>
            <a:endParaRPr lang="en-US" sz="1250" b="1" dirty="0"/>
          </a:p>
        </p:txBody>
      </p:sp>
      <p:sp>
        <p:nvSpPr>
          <p:cNvPr id="48" name="Shape 10">
            <a:extLst>
              <a:ext uri="{FF2B5EF4-FFF2-40B4-BE49-F238E27FC236}">
                <a16:creationId xmlns:a16="http://schemas.microsoft.com/office/drawing/2014/main" id="{1A577B61-6367-1847-654F-0DCEE3A9F68E}"/>
              </a:ext>
            </a:extLst>
          </p:cNvPr>
          <p:cNvSpPr/>
          <p:nvPr/>
        </p:nvSpPr>
        <p:spPr>
          <a:xfrm>
            <a:off x="502920" y="3907592"/>
            <a:ext cx="54864" cy="71323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11">
            <a:extLst>
              <a:ext uri="{FF2B5EF4-FFF2-40B4-BE49-F238E27FC236}">
                <a16:creationId xmlns:a16="http://schemas.microsoft.com/office/drawing/2014/main" id="{0778E606-A1F4-2546-2EF7-B97AA4053B98}"/>
              </a:ext>
            </a:extLst>
          </p:cNvPr>
          <p:cNvSpPr/>
          <p:nvPr/>
        </p:nvSpPr>
        <p:spPr>
          <a:xfrm>
            <a:off x="685800" y="39075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</a:rPr>
              <a:t>Novelty of  component</a:t>
            </a:r>
            <a:endParaRPr lang="en-US" sz="1200" dirty="0"/>
          </a:p>
        </p:txBody>
      </p:sp>
      <p:sp>
        <p:nvSpPr>
          <p:cNvPr id="50" name="Text 12">
            <a:extLst>
              <a:ext uri="{FF2B5EF4-FFF2-40B4-BE49-F238E27FC236}">
                <a16:creationId xmlns:a16="http://schemas.microsoft.com/office/drawing/2014/main" id="{4E0E4398-DD2A-2138-3BEB-FC78D4D37F84}"/>
              </a:ext>
            </a:extLst>
          </p:cNvPr>
          <p:cNvSpPr/>
          <p:nvPr/>
        </p:nvSpPr>
        <p:spPr>
          <a:xfrm>
            <a:off x="685800" y="411790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b="1" dirty="0"/>
              <a:t>Integration of deep learning–based pest detection with Out-of-Distribution (OOD) detection to identify. </a:t>
            </a:r>
            <a:r>
              <a:rPr lang="en-US" sz="1400" b="1" dirty="0">
                <a:solidFill>
                  <a:schemeClr val="bg1"/>
                </a:solidFill>
              </a:rPr>
              <a:t>unknown insects and Combination of CNN and YOLO detection models for improved pest recognition accuracy</a:t>
            </a:r>
            <a:r>
              <a:rPr lang="en-US" sz="1400" dirty="0"/>
              <a:t>.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2BD63D-514E-9D3F-B3B5-5B6B3C432988}"/>
              </a:ext>
            </a:extLst>
          </p:cNvPr>
          <p:cNvSpPr txBox="1"/>
          <p:nvPr/>
        </p:nvSpPr>
        <p:spPr>
          <a:xfrm>
            <a:off x="548640" y="2406563"/>
            <a:ext cx="45768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+mj-lt"/>
                <a:ea typeface="Calibri" pitchFamily="34" charset="-122"/>
                <a:cs typeface="Calibri" pitchFamily="34" charset="-120"/>
              </a:rPr>
              <a:t>IT22065858  |  KALHARA E P K </a:t>
            </a:r>
            <a:endParaRPr lang="en-US" sz="2400" dirty="0">
              <a:latin typeface="+mj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4">
            <a:extLst>
              <a:ext uri="{FF2B5EF4-FFF2-40B4-BE49-F238E27FC236}">
                <a16:creationId xmlns:a16="http://schemas.microsoft.com/office/drawing/2014/main" id="{668BC85F-BEBD-ABA8-D46C-BA362E08B862}"/>
              </a:ext>
            </a:extLst>
          </p:cNvPr>
          <p:cNvSpPr/>
          <p:nvPr/>
        </p:nvSpPr>
        <p:spPr>
          <a:xfrm>
            <a:off x="4754880" y="1133856"/>
            <a:ext cx="4069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Problem Definition &amp; Research Objective</a:t>
            </a:r>
            <a:r>
              <a:rPr lang="en-US" sz="3200" b="1" dirty="0">
                <a:solidFill>
                  <a:srgbClr val="1B2E20"/>
                </a:solidFill>
                <a:latin typeface="+mj-lt"/>
                <a:ea typeface="Calibri" pitchFamily="34" charset="-122"/>
                <a:cs typeface="Calibri" pitchFamily="34" charset="-120"/>
              </a:rPr>
              <a:t>  </a:t>
            </a:r>
            <a:endParaRPr lang="en-US" sz="320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3977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397764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 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457200" y="1664208"/>
            <a:ext cx="37490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pests destroy up to 40% of harvest if unmanaged.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farmers don’t have access to agricultural experts.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Misidentification leads to wrong pesticide use.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economic loss &amp; environmental damage.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AI apps give wrong answers for unknown insects.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1143000"/>
            <a:ext cx="4069080" cy="4114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54880" y="114300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  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92040" y="1691640"/>
            <a:ext cx="3794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92040" y="2194560"/>
            <a:ext cx="379476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0" y="32918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36118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36118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52360" y="361188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" y="470916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B4332"/>
                </a:solidFill>
              </a:rPr>
              <a:t>Target Pests: Brown Planthopper  •  Stem Borer  •  Leaf Folder  •  Rice Hispa  •  Gall Midge</a:t>
            </a:r>
            <a:endParaRPr lang="en-US" sz="950" dirty="0"/>
          </a:p>
        </p:txBody>
      </p:sp>
      <p:sp>
        <p:nvSpPr>
          <p:cNvPr id="27" name="Shape 32">
            <a:extLst>
              <a:ext uri="{FF2B5EF4-FFF2-40B4-BE49-F238E27FC236}">
                <a16:creationId xmlns:a16="http://schemas.microsoft.com/office/drawing/2014/main" id="{5772BCDC-789D-C2F0-2CF9-05CC3260FAE9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1" descr="preencoded.png">
            <a:extLst>
              <a:ext uri="{FF2B5EF4-FFF2-40B4-BE49-F238E27FC236}">
                <a16:creationId xmlns:a16="http://schemas.microsoft.com/office/drawing/2014/main" id="{E7F25FDA-E5C5-2EEA-7296-66532A9E4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837176"/>
            <a:ext cx="1417320" cy="274320"/>
          </a:xfrm>
          <a:prstGeom prst="rect">
            <a:avLst/>
          </a:prstGeom>
        </p:spPr>
      </p:pic>
      <p:sp>
        <p:nvSpPr>
          <p:cNvPr id="29" name="Text 35">
            <a:extLst>
              <a:ext uri="{FF2B5EF4-FFF2-40B4-BE49-F238E27FC236}">
                <a16:creationId xmlns:a16="http://schemas.microsoft.com/office/drawing/2014/main" id="{F883A838-9192-191F-CA51-AB7C19E7B21C}"/>
              </a:ext>
            </a:extLst>
          </p:cNvPr>
          <p:cNvSpPr/>
          <p:nvPr/>
        </p:nvSpPr>
        <p:spPr>
          <a:xfrm>
            <a:off x="1783080" y="4846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B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IT22065858  |  KALHARA E P K |  R26-SE-015</a:t>
            </a:r>
            <a:endParaRPr lang="en-US" sz="9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2FC9833B-1D0A-EC3C-55FE-825FD3B543F8}"/>
              </a:ext>
            </a:extLst>
          </p:cNvPr>
          <p:cNvSpPr/>
          <p:nvPr/>
        </p:nvSpPr>
        <p:spPr>
          <a:xfrm>
            <a:off x="4892040" y="1950799"/>
            <a:ext cx="3749040" cy="5897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n-US" sz="1400" dirty="0"/>
              <a:t>Develop a </a:t>
            </a:r>
            <a:r>
              <a:rPr lang="en-US" sz="1400" b="1" dirty="0"/>
              <a:t>deep learning–based system to detect rice pests from images accurately</a:t>
            </a:r>
            <a:endParaRPr lang="en-US" sz="1400" dirty="0"/>
          </a:p>
        </p:txBody>
      </p:sp>
      <p:sp>
        <p:nvSpPr>
          <p:cNvPr id="32" name="Text 7">
            <a:extLst>
              <a:ext uri="{FF2B5EF4-FFF2-40B4-BE49-F238E27FC236}">
                <a16:creationId xmlns:a16="http://schemas.microsoft.com/office/drawing/2014/main" id="{0D6429CB-8D70-E4D4-D7DE-B7600DB4947A}"/>
              </a:ext>
            </a:extLst>
          </p:cNvPr>
          <p:cNvSpPr/>
          <p:nvPr/>
        </p:nvSpPr>
        <p:spPr>
          <a:xfrm>
            <a:off x="5167937" y="2494026"/>
            <a:ext cx="3611880" cy="23020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Collect and prepare a rice pest image dataset for model training.</a:t>
            </a:r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Train and evaluate CNN and YOLO models for pest detection.</a:t>
            </a:r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Integrate Out-of-Distribution (OOD) detection to identify unknown insects.</a:t>
            </a:r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/>
              <a:t>Evaluate model performance using accuracy, precision, recall.</a:t>
            </a:r>
          </a:p>
          <a:p>
            <a:pPr marL="285750" indent="-285750">
              <a:spcAft>
                <a:spcPts val="800"/>
              </a:spcAft>
              <a:buSzPct val="100000"/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34" name="Text 34">
            <a:extLst>
              <a:ext uri="{FF2B5EF4-FFF2-40B4-BE49-F238E27FC236}">
                <a16:creationId xmlns:a16="http://schemas.microsoft.com/office/drawing/2014/main" id="{2E5245FF-B426-E395-25A3-C0400DC8DA74}"/>
              </a:ext>
            </a:extLst>
          </p:cNvPr>
          <p:cNvSpPr/>
          <p:nvPr/>
        </p:nvSpPr>
        <p:spPr>
          <a:xfrm>
            <a:off x="4983480" y="1722541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961C"/>
                </a:solidFill>
              </a:rPr>
              <a:t>Main Objective: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Methodology &amp; </a:t>
            </a:r>
            <a:r>
              <a:rPr lang="en-US" sz="3200" b="1" dirty="0">
                <a:solidFill>
                  <a:schemeClr val="bg1"/>
                </a:solidFill>
                <a:latin typeface="+mj-lt"/>
              </a:rPr>
              <a:t>Latest Technologies</a:t>
            </a:r>
            <a:r>
              <a:rPr lang="en-US" sz="3200" b="1" dirty="0">
                <a:solidFill>
                  <a:schemeClr val="bg1"/>
                </a:solidFill>
                <a:latin typeface="+mj-lt"/>
                <a:ea typeface="Calibri" pitchFamily="34" charset="-122"/>
                <a:cs typeface="Calibri" pitchFamily="34" charset="-120"/>
              </a:rPr>
              <a:t>  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404722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0939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B4332"/>
                </a:solidFill>
              </a:rPr>
              <a:t>Latest Technologies </a:t>
            </a:r>
            <a:r>
              <a:rPr lang="en-US" sz="1400" b="1" dirty="0">
                <a:solidFill>
                  <a:srgbClr val="1B4332"/>
                </a:solidFill>
              </a:rPr>
              <a:t>:</a:t>
            </a:r>
            <a:r>
              <a:rPr lang="en-US" sz="1400" dirty="0"/>
              <a:t> </a:t>
            </a:r>
          </a:p>
        </p:txBody>
      </p:sp>
      <p:sp>
        <p:nvSpPr>
          <p:cNvPr id="51" name="Shape 32">
            <a:extLst>
              <a:ext uri="{FF2B5EF4-FFF2-40B4-BE49-F238E27FC236}">
                <a16:creationId xmlns:a16="http://schemas.microsoft.com/office/drawing/2014/main" id="{7FB70AEF-D61F-7A82-EA92-782F76B7D326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32">
            <a:extLst>
              <a:ext uri="{FF2B5EF4-FFF2-40B4-BE49-F238E27FC236}">
                <a16:creationId xmlns:a16="http://schemas.microsoft.com/office/drawing/2014/main" id="{266CA6F2-C982-382E-0C22-4E46CBD4A57A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1" descr="preencoded.png">
            <a:extLst>
              <a:ext uri="{FF2B5EF4-FFF2-40B4-BE49-F238E27FC236}">
                <a16:creationId xmlns:a16="http://schemas.microsoft.com/office/drawing/2014/main" id="{9B002A32-4A5E-26E7-977A-4E1FABDD7D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837176"/>
            <a:ext cx="1417320" cy="274320"/>
          </a:xfrm>
          <a:prstGeom prst="rect">
            <a:avLst/>
          </a:prstGeom>
        </p:spPr>
      </p:pic>
      <p:sp>
        <p:nvSpPr>
          <p:cNvPr id="56" name="Text 35">
            <a:extLst>
              <a:ext uri="{FF2B5EF4-FFF2-40B4-BE49-F238E27FC236}">
                <a16:creationId xmlns:a16="http://schemas.microsoft.com/office/drawing/2014/main" id="{089C141E-C3F2-50B6-DB9B-222840E30CEA}"/>
              </a:ext>
            </a:extLst>
          </p:cNvPr>
          <p:cNvSpPr/>
          <p:nvPr/>
        </p:nvSpPr>
        <p:spPr>
          <a:xfrm>
            <a:off x="1783080" y="4846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B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IT22065858  |  KALHARA E P K |  R26-SE-015</a:t>
            </a:r>
            <a:endParaRPr lang="en-US" sz="900" dirty="0"/>
          </a:p>
        </p:txBody>
      </p:sp>
      <p:sp>
        <p:nvSpPr>
          <p:cNvPr id="57" name="Text 4"/>
          <p:cNvSpPr/>
          <p:nvPr/>
        </p:nvSpPr>
        <p:spPr>
          <a:xfrm>
            <a:off x="320040" y="1078992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4332"/>
                </a:solidFill>
              </a:rPr>
              <a:t>Methodology</a:t>
            </a:r>
            <a:endParaRPr lang="en-US" dirty="0"/>
          </a:p>
        </p:txBody>
      </p:sp>
      <p:sp>
        <p:nvSpPr>
          <p:cNvPr id="58" name="Shape 5"/>
          <p:cNvSpPr/>
          <p:nvPr/>
        </p:nvSpPr>
        <p:spPr>
          <a:xfrm>
            <a:off x="5056632" y="1560470"/>
            <a:ext cx="54864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6"/>
          <p:cNvSpPr/>
          <p:nvPr/>
        </p:nvSpPr>
        <p:spPr>
          <a:xfrm>
            <a:off x="5212080" y="156047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Disease Detection (CNN) Models</a:t>
            </a:r>
            <a:endParaRPr lang="en-US" sz="1300" dirty="0"/>
          </a:p>
        </p:txBody>
      </p:sp>
      <p:sp>
        <p:nvSpPr>
          <p:cNvPr id="60" name="Text 7"/>
          <p:cNvSpPr/>
          <p:nvPr/>
        </p:nvSpPr>
        <p:spPr>
          <a:xfrm>
            <a:off x="5212080" y="176163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ResNet50, EfficientNetB0, MobileNetV2</a:t>
            </a:r>
            <a:endParaRPr lang="en-US" sz="1200" dirty="0"/>
          </a:p>
        </p:txBody>
      </p:sp>
      <p:sp>
        <p:nvSpPr>
          <p:cNvPr id="61" name="Shape 8"/>
          <p:cNvSpPr/>
          <p:nvPr/>
        </p:nvSpPr>
        <p:spPr>
          <a:xfrm>
            <a:off x="5056632" y="2200550"/>
            <a:ext cx="54864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9"/>
          <p:cNvSpPr/>
          <p:nvPr/>
        </p:nvSpPr>
        <p:spPr>
          <a:xfrm>
            <a:off x="5212080" y="220055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Object Detection</a:t>
            </a:r>
            <a:endParaRPr lang="en-US" sz="1300" dirty="0"/>
          </a:p>
        </p:txBody>
      </p:sp>
      <p:sp>
        <p:nvSpPr>
          <p:cNvPr id="63" name="Text 10"/>
          <p:cNvSpPr/>
          <p:nvPr/>
        </p:nvSpPr>
        <p:spPr>
          <a:xfrm>
            <a:off x="5212080" y="2420006"/>
            <a:ext cx="3657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2D3748"/>
                </a:solidFill>
              </a:rPr>
              <a:t>YOLO v8</a:t>
            </a:r>
            <a:r>
              <a:rPr lang="en-US" sz="1200" dirty="0">
                <a:solidFill>
                  <a:srgbClr val="4A5568"/>
                </a:solidFill>
              </a:rPr>
              <a:t> for small insects in field images</a:t>
            </a:r>
            <a:endParaRPr lang="en-US" sz="1200" dirty="0"/>
          </a:p>
        </p:txBody>
      </p:sp>
      <p:sp>
        <p:nvSpPr>
          <p:cNvPr id="64" name="Shape 11"/>
          <p:cNvSpPr/>
          <p:nvPr/>
        </p:nvSpPr>
        <p:spPr>
          <a:xfrm>
            <a:off x="5056632" y="2840630"/>
            <a:ext cx="54864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12"/>
          <p:cNvSpPr/>
          <p:nvPr/>
        </p:nvSpPr>
        <p:spPr>
          <a:xfrm>
            <a:off x="5212080" y="284063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Data Augmentation</a:t>
            </a:r>
            <a:endParaRPr lang="en-US" sz="1300" dirty="0"/>
          </a:p>
        </p:txBody>
      </p:sp>
      <p:sp>
        <p:nvSpPr>
          <p:cNvPr id="66" name="Text 13"/>
          <p:cNvSpPr/>
          <p:nvPr/>
        </p:nvSpPr>
        <p:spPr>
          <a:xfrm>
            <a:off x="5212080" y="304179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Rotation, flipping, brightness adjustment</a:t>
            </a:r>
            <a:endParaRPr lang="en-US" sz="1200" dirty="0"/>
          </a:p>
        </p:txBody>
      </p:sp>
      <p:sp>
        <p:nvSpPr>
          <p:cNvPr id="67" name="Shape 14"/>
          <p:cNvSpPr/>
          <p:nvPr/>
        </p:nvSpPr>
        <p:spPr>
          <a:xfrm>
            <a:off x="5056632" y="3480710"/>
            <a:ext cx="54864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15"/>
          <p:cNvSpPr/>
          <p:nvPr/>
        </p:nvSpPr>
        <p:spPr>
          <a:xfrm>
            <a:off x="5212080" y="348071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Unknown image detection (OOD Detection)</a:t>
            </a:r>
            <a:endParaRPr lang="en-US" sz="1300" dirty="0"/>
          </a:p>
        </p:txBody>
      </p:sp>
      <p:sp>
        <p:nvSpPr>
          <p:cNvPr id="69" name="Text 16"/>
          <p:cNvSpPr/>
          <p:nvPr/>
        </p:nvSpPr>
        <p:spPr>
          <a:xfrm>
            <a:off x="5212080" y="368187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5568"/>
                </a:solidFill>
              </a:rPr>
              <a:t>ODIN / </a:t>
            </a:r>
            <a:r>
              <a:rPr lang="en-US" sz="1200" dirty="0" err="1">
                <a:solidFill>
                  <a:srgbClr val="4A5568"/>
                </a:solidFill>
              </a:rPr>
              <a:t>Mahalanobis</a:t>
            </a:r>
            <a:r>
              <a:rPr lang="en-US" sz="1200" dirty="0">
                <a:solidFill>
                  <a:srgbClr val="4A5568"/>
                </a:solidFill>
              </a:rPr>
              <a:t> /</a:t>
            </a:r>
            <a:r>
              <a:rPr lang="en-US" sz="1200" dirty="0">
                <a:solidFill>
                  <a:srgbClr val="2D3748"/>
                </a:solidFill>
              </a:rPr>
              <a:t> </a:t>
            </a:r>
            <a:r>
              <a:rPr lang="en-US" sz="1200" dirty="0" err="1">
                <a:solidFill>
                  <a:srgbClr val="2D3748"/>
                </a:solidFill>
              </a:rPr>
              <a:t>OpenMax</a:t>
            </a:r>
            <a:endParaRPr lang="en-US" sz="1200" dirty="0"/>
          </a:p>
        </p:txBody>
      </p:sp>
      <p:sp>
        <p:nvSpPr>
          <p:cNvPr id="70" name="Shape 17"/>
          <p:cNvSpPr/>
          <p:nvPr/>
        </p:nvSpPr>
        <p:spPr>
          <a:xfrm>
            <a:off x="5056632" y="4120790"/>
            <a:ext cx="54864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18"/>
          <p:cNvSpPr/>
          <p:nvPr/>
        </p:nvSpPr>
        <p:spPr>
          <a:xfrm>
            <a:off x="5212080" y="412079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</a:rPr>
              <a:t>Tools</a:t>
            </a:r>
            <a:endParaRPr lang="en-US" sz="1300" dirty="0"/>
          </a:p>
        </p:txBody>
      </p:sp>
      <p:sp>
        <p:nvSpPr>
          <p:cNvPr id="72" name="Text 19"/>
          <p:cNvSpPr/>
          <p:nvPr/>
        </p:nvSpPr>
        <p:spPr>
          <a:xfrm>
            <a:off x="5212080" y="432195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A5568"/>
                </a:solidFill>
              </a:rPr>
              <a:t>Python / </a:t>
            </a:r>
            <a:r>
              <a:rPr lang="en-US" sz="1200" dirty="0" err="1">
                <a:solidFill>
                  <a:srgbClr val="4A5568"/>
                </a:solidFill>
              </a:rPr>
              <a:t>PyTorch</a:t>
            </a:r>
            <a:r>
              <a:rPr lang="en-US" sz="1200" dirty="0">
                <a:solidFill>
                  <a:srgbClr val="4A5568"/>
                </a:solidFill>
              </a:rPr>
              <a:t> / </a:t>
            </a: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 / </a:t>
            </a:r>
            <a:r>
              <a:rPr lang="en-US" sz="1200" dirty="0">
                <a:solidFill>
                  <a:srgbClr val="4A5568"/>
                </a:solidFill>
              </a:rPr>
              <a:t>Google </a:t>
            </a:r>
            <a:r>
              <a:rPr lang="en-US" sz="1200" dirty="0" err="1">
                <a:solidFill>
                  <a:srgbClr val="4A5568"/>
                </a:solidFill>
              </a:rPr>
              <a:t>Colab</a:t>
            </a:r>
            <a:r>
              <a:rPr lang="en-US" sz="1200" dirty="0">
                <a:solidFill>
                  <a:srgbClr val="4A5568"/>
                </a:solidFill>
              </a:rPr>
              <a:t> GPU/</a:t>
            </a:r>
            <a:r>
              <a:rPr lang="en-US" sz="1200" dirty="0" err="1">
                <a:solidFill>
                  <a:srgbClr val="4A5568"/>
                </a:solidFill>
              </a:rPr>
              <a:t>mongoDB</a:t>
            </a:r>
            <a:endParaRPr lang="en-US" sz="1200" dirty="0"/>
          </a:p>
        </p:txBody>
      </p:sp>
      <p:sp>
        <p:nvSpPr>
          <p:cNvPr id="73" name="Shape 20"/>
          <p:cNvSpPr/>
          <p:nvPr/>
        </p:nvSpPr>
        <p:spPr>
          <a:xfrm>
            <a:off x="4526280" y="992229"/>
            <a:ext cx="45720" cy="3840480"/>
          </a:xfrm>
          <a:prstGeom prst="rect">
            <a:avLst/>
          </a:prstGeom>
          <a:solidFill>
            <a:srgbClr val="52B788">
              <a:alpha val="60000"/>
            </a:srgbClr>
          </a:solidFill>
          <a:ln w="12700">
            <a:solidFill>
              <a:srgbClr val="52B7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10">
            <a:extLst>
              <a:ext uri="{FF2B5EF4-FFF2-40B4-BE49-F238E27FC236}">
                <a16:creationId xmlns:a16="http://schemas.microsoft.com/office/drawing/2014/main" id="{B812C512-3C53-730C-A228-D66ABE803111}"/>
              </a:ext>
            </a:extLst>
          </p:cNvPr>
          <p:cNvSpPr/>
          <p:nvPr/>
        </p:nvSpPr>
        <p:spPr>
          <a:xfrm>
            <a:off x="320040" y="1552035"/>
            <a:ext cx="3657600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>
              <a:solidFill>
                <a:srgbClr val="2D3748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Use Deep Learning and Computer Vision techniques for pest image analysis.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2D3748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Train and compare CNN models for pest classification.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2D3748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Apply </a:t>
            </a:r>
            <a:r>
              <a:rPr lang="en-US" sz="1400" b="1" dirty="0"/>
              <a:t>image preprocessing and data augmentation</a:t>
            </a:r>
            <a:r>
              <a:rPr lang="en-US" sz="1400" dirty="0"/>
              <a:t> to improve robustness.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2D3748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 dirty="0"/>
              <a:t>Integrate Out-of-Distribution</a:t>
            </a:r>
            <a:r>
              <a:rPr lang="en-US" sz="1400" b="1" dirty="0"/>
              <a:t> (OOD) </a:t>
            </a:r>
            <a:r>
              <a:rPr lang="en-US" sz="1400" dirty="0"/>
              <a:t>detection to identify unknown insects.</a:t>
            </a:r>
            <a:endParaRPr lang="en-US" sz="1400" dirty="0">
              <a:solidFill>
                <a:srgbClr val="2D3748"/>
              </a:solidFill>
            </a:endParaRPr>
          </a:p>
          <a:p>
            <a:endParaRPr lang="en-US" sz="1200" dirty="0"/>
          </a:p>
        </p:txBody>
      </p:sp>
      <p:sp>
        <p:nvSpPr>
          <p:cNvPr id="81" name="Text 19">
            <a:extLst>
              <a:ext uri="{FF2B5EF4-FFF2-40B4-BE49-F238E27FC236}">
                <a16:creationId xmlns:a16="http://schemas.microsoft.com/office/drawing/2014/main" id="{EBD9EBEC-773F-3D00-5216-4EBD5A6F1986}"/>
              </a:ext>
            </a:extLst>
          </p:cNvPr>
          <p:cNvSpPr/>
          <p:nvPr/>
        </p:nvSpPr>
        <p:spPr>
          <a:xfrm>
            <a:off x="137160" y="4091940"/>
            <a:ext cx="4251960" cy="431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4A5568"/>
                </a:solidFill>
              </a:rPr>
              <a:t>Dataset Preparation -&gt; Model Training -&gt; OOD </a:t>
            </a:r>
            <a:r>
              <a:rPr lang="en-US" sz="1300" dirty="0" err="1">
                <a:solidFill>
                  <a:srgbClr val="4A5568"/>
                </a:solidFill>
              </a:rPr>
              <a:t>Intergration</a:t>
            </a:r>
            <a:r>
              <a:rPr lang="en-US" sz="1300" dirty="0">
                <a:solidFill>
                  <a:srgbClr val="4A5568"/>
                </a:solidFill>
              </a:rPr>
              <a:t> -&gt; explainability -&gt; API Deploy -&gt; evaluation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4">
            <a:extLst>
              <a:ext uri="{FF2B5EF4-FFF2-40B4-BE49-F238E27FC236}">
                <a16:creationId xmlns:a16="http://schemas.microsoft.com/office/drawing/2014/main" id="{F8C359D9-2E65-031F-0DFA-DD4574896E00}"/>
              </a:ext>
            </a:extLst>
          </p:cNvPr>
          <p:cNvSpPr/>
          <p:nvPr/>
        </p:nvSpPr>
        <p:spPr>
          <a:xfrm>
            <a:off x="4732093" y="1194634"/>
            <a:ext cx="4069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59" y="0"/>
            <a:ext cx="843541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Data Collection &amp; Security, </a:t>
            </a:r>
            <a:r>
              <a:rPr lang="en-US" sz="3200" b="1" dirty="0">
                <a:solidFill>
                  <a:schemeClr val="bg1"/>
                </a:solidFill>
                <a:latin typeface="+mj-lt"/>
              </a:rPr>
              <a:t>Ethical Considerations</a:t>
            </a:r>
            <a:r>
              <a:rPr lang="en-US" sz="3200" dirty="0">
                <a:solidFill>
                  <a:schemeClr val="bg1"/>
                </a:solidFill>
                <a:latin typeface="+mj-lt"/>
              </a:rPr>
              <a:t> </a:t>
            </a:r>
          </a:p>
        </p:txBody>
      </p:sp>
      <p:sp>
        <p:nvSpPr>
          <p:cNvPr id="5" name="Text 3"/>
          <p:cNvSpPr/>
          <p:nvPr/>
        </p:nvSpPr>
        <p:spPr>
          <a:xfrm>
            <a:off x="804672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48" name="Shape 32">
            <a:extLst>
              <a:ext uri="{FF2B5EF4-FFF2-40B4-BE49-F238E27FC236}">
                <a16:creationId xmlns:a16="http://schemas.microsoft.com/office/drawing/2014/main" id="{61A037B8-4ADB-1A41-0A1C-12FAF0973A4C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id="{14162928-3BD3-8A6A-5FF3-47C8951BC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837176"/>
            <a:ext cx="1417320" cy="274320"/>
          </a:xfrm>
          <a:prstGeom prst="rect">
            <a:avLst/>
          </a:prstGeom>
        </p:spPr>
      </p:pic>
      <p:sp>
        <p:nvSpPr>
          <p:cNvPr id="50" name="Text 35">
            <a:extLst>
              <a:ext uri="{FF2B5EF4-FFF2-40B4-BE49-F238E27FC236}">
                <a16:creationId xmlns:a16="http://schemas.microsoft.com/office/drawing/2014/main" id="{55189384-FD20-294A-1B42-CB2EE2E69FDA}"/>
              </a:ext>
            </a:extLst>
          </p:cNvPr>
          <p:cNvSpPr/>
          <p:nvPr/>
        </p:nvSpPr>
        <p:spPr>
          <a:xfrm>
            <a:off x="1783080" y="4846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B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IT22065858  |  KALHARA E P K |  R26-SE-015</a:t>
            </a:r>
            <a:endParaRPr lang="en-US" sz="900" dirty="0"/>
          </a:p>
        </p:txBody>
      </p:sp>
      <p:sp>
        <p:nvSpPr>
          <p:cNvPr id="65" name="Shape 8">
            <a:extLst>
              <a:ext uri="{FF2B5EF4-FFF2-40B4-BE49-F238E27FC236}">
                <a16:creationId xmlns:a16="http://schemas.microsoft.com/office/drawing/2014/main" id="{8530DAE9-9983-E7E6-69A4-8864DE72F632}"/>
              </a:ext>
            </a:extLst>
          </p:cNvPr>
          <p:cNvSpPr/>
          <p:nvPr/>
        </p:nvSpPr>
        <p:spPr>
          <a:xfrm>
            <a:off x="137160" y="1519647"/>
            <a:ext cx="4069080" cy="1914387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6" name="Shape 9">
            <a:extLst>
              <a:ext uri="{FF2B5EF4-FFF2-40B4-BE49-F238E27FC236}">
                <a16:creationId xmlns:a16="http://schemas.microsoft.com/office/drawing/2014/main" id="{3AAB64DB-D034-AD4B-169F-625B3CB3827A}"/>
              </a:ext>
            </a:extLst>
          </p:cNvPr>
          <p:cNvSpPr/>
          <p:nvPr/>
        </p:nvSpPr>
        <p:spPr>
          <a:xfrm>
            <a:off x="137160" y="1453222"/>
            <a:ext cx="4069080" cy="3726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10">
            <a:extLst>
              <a:ext uri="{FF2B5EF4-FFF2-40B4-BE49-F238E27FC236}">
                <a16:creationId xmlns:a16="http://schemas.microsoft.com/office/drawing/2014/main" id="{AFFC4C8C-C4AB-625C-1275-E7DE33CEB237}"/>
              </a:ext>
            </a:extLst>
          </p:cNvPr>
          <p:cNvSpPr/>
          <p:nvPr/>
        </p:nvSpPr>
        <p:spPr>
          <a:xfrm>
            <a:off x="137160" y="1453222"/>
            <a:ext cx="4069080" cy="37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DATASET COLLECTION</a:t>
            </a:r>
            <a:endParaRPr lang="en-US" sz="1200" dirty="0"/>
          </a:p>
        </p:txBody>
      </p:sp>
      <p:sp>
        <p:nvSpPr>
          <p:cNvPr id="68" name="Shape 11">
            <a:extLst>
              <a:ext uri="{FF2B5EF4-FFF2-40B4-BE49-F238E27FC236}">
                <a16:creationId xmlns:a16="http://schemas.microsoft.com/office/drawing/2014/main" id="{E3887A93-2C0C-1C74-F3F8-E653F0339208}"/>
              </a:ext>
            </a:extLst>
          </p:cNvPr>
          <p:cNvSpPr/>
          <p:nvPr/>
        </p:nvSpPr>
        <p:spPr>
          <a:xfrm>
            <a:off x="274320" y="2001862"/>
            <a:ext cx="3794760" cy="347828"/>
          </a:xfrm>
          <a:prstGeom prst="rect">
            <a:avLst/>
          </a:prstGeom>
          <a:solidFill>
            <a:srgbClr val="95D5B2">
              <a:alpha val="6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1EF50694-1871-E7EF-961B-1232BBC95030}"/>
              </a:ext>
            </a:extLst>
          </p:cNvPr>
          <p:cNvSpPr/>
          <p:nvPr/>
        </p:nvSpPr>
        <p:spPr>
          <a:xfrm>
            <a:off x="274320" y="2001862"/>
            <a:ext cx="3794760" cy="347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4332"/>
                </a:solidFill>
              </a:rPr>
              <a:t>IP102 – Large Scale Insect Pest Dataset (GitHub)</a:t>
            </a:r>
            <a:endParaRPr lang="en-US" sz="1200" dirty="0"/>
          </a:p>
        </p:txBody>
      </p:sp>
      <p:sp>
        <p:nvSpPr>
          <p:cNvPr id="70" name="Shape 13">
            <a:extLst>
              <a:ext uri="{FF2B5EF4-FFF2-40B4-BE49-F238E27FC236}">
                <a16:creationId xmlns:a16="http://schemas.microsoft.com/office/drawing/2014/main" id="{12BB2736-C6DC-525C-A727-8A17C0AEAE09}"/>
              </a:ext>
            </a:extLst>
          </p:cNvPr>
          <p:cNvSpPr/>
          <p:nvPr/>
        </p:nvSpPr>
        <p:spPr>
          <a:xfrm>
            <a:off x="274320" y="2504782"/>
            <a:ext cx="3794760" cy="347828"/>
          </a:xfrm>
          <a:prstGeom prst="rect">
            <a:avLst/>
          </a:prstGeom>
          <a:solidFill>
            <a:srgbClr val="95D5B2">
              <a:alpha val="6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14">
            <a:extLst>
              <a:ext uri="{FF2B5EF4-FFF2-40B4-BE49-F238E27FC236}">
                <a16:creationId xmlns:a16="http://schemas.microsoft.com/office/drawing/2014/main" id="{C629CB74-F519-A843-8467-929681DA1F80}"/>
              </a:ext>
            </a:extLst>
          </p:cNvPr>
          <p:cNvSpPr/>
          <p:nvPr/>
        </p:nvSpPr>
        <p:spPr>
          <a:xfrm>
            <a:off x="274320" y="2504782"/>
            <a:ext cx="3794760" cy="347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4332"/>
                </a:solidFill>
              </a:rPr>
              <a:t>Kaggle Agricultural Image Repositories</a:t>
            </a:r>
            <a:endParaRPr lang="en-US" sz="1200" dirty="0"/>
          </a:p>
        </p:txBody>
      </p:sp>
      <p:sp>
        <p:nvSpPr>
          <p:cNvPr id="72" name="Shape 15">
            <a:extLst>
              <a:ext uri="{FF2B5EF4-FFF2-40B4-BE49-F238E27FC236}">
                <a16:creationId xmlns:a16="http://schemas.microsoft.com/office/drawing/2014/main" id="{CA54C00F-48B1-A196-B4B2-6FB40736B8E7}"/>
              </a:ext>
            </a:extLst>
          </p:cNvPr>
          <p:cNvSpPr/>
          <p:nvPr/>
        </p:nvSpPr>
        <p:spPr>
          <a:xfrm>
            <a:off x="274320" y="3007702"/>
            <a:ext cx="3794760" cy="347828"/>
          </a:xfrm>
          <a:prstGeom prst="rect">
            <a:avLst/>
          </a:prstGeom>
          <a:solidFill>
            <a:srgbClr val="95D5B2">
              <a:alpha val="60000"/>
            </a:srgbClr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16">
            <a:extLst>
              <a:ext uri="{FF2B5EF4-FFF2-40B4-BE49-F238E27FC236}">
                <a16:creationId xmlns:a16="http://schemas.microsoft.com/office/drawing/2014/main" id="{69325EBA-08FD-4AB2-A944-A3AB413D37B8}"/>
              </a:ext>
            </a:extLst>
          </p:cNvPr>
          <p:cNvSpPr/>
          <p:nvPr/>
        </p:nvSpPr>
        <p:spPr>
          <a:xfrm>
            <a:off x="274320" y="3007702"/>
            <a:ext cx="3794760" cy="3478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B4332"/>
                </a:solidFill>
              </a:rPr>
              <a:t>Local Sri Lankan Paddy Field Images</a:t>
            </a:r>
            <a:endParaRPr lang="en-US" sz="1200" dirty="0"/>
          </a:p>
        </p:txBody>
      </p:sp>
      <p:sp>
        <p:nvSpPr>
          <p:cNvPr id="81" name="Text 17">
            <a:extLst>
              <a:ext uri="{FF2B5EF4-FFF2-40B4-BE49-F238E27FC236}">
                <a16:creationId xmlns:a16="http://schemas.microsoft.com/office/drawing/2014/main" id="{5CEC8054-DF2B-BA37-D073-9FD9FF5371C8}"/>
              </a:ext>
            </a:extLst>
          </p:cNvPr>
          <p:cNvSpPr/>
          <p:nvPr/>
        </p:nvSpPr>
        <p:spPr>
          <a:xfrm>
            <a:off x="313661" y="3488714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Dataset Split:</a:t>
            </a:r>
            <a:endParaRPr lang="en-US" sz="1100" dirty="0"/>
          </a:p>
        </p:txBody>
      </p:sp>
      <p:sp>
        <p:nvSpPr>
          <p:cNvPr id="82" name="Shape 18">
            <a:extLst>
              <a:ext uri="{FF2B5EF4-FFF2-40B4-BE49-F238E27FC236}">
                <a16:creationId xmlns:a16="http://schemas.microsoft.com/office/drawing/2014/main" id="{3D463BC1-7FBE-A587-9998-20B4083F95FE}"/>
              </a:ext>
            </a:extLst>
          </p:cNvPr>
          <p:cNvSpPr/>
          <p:nvPr/>
        </p:nvSpPr>
        <p:spPr>
          <a:xfrm>
            <a:off x="208105" y="3936587"/>
            <a:ext cx="1188720" cy="685800"/>
          </a:xfrm>
          <a:prstGeom prst="rect">
            <a:avLst/>
          </a:prstGeom>
          <a:solidFill>
            <a:srgbClr val="5E8C61"/>
          </a:solidFill>
          <a:ln w="12700">
            <a:solidFill>
              <a:srgbClr val="5E8C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19">
            <a:extLst>
              <a:ext uri="{FF2B5EF4-FFF2-40B4-BE49-F238E27FC236}">
                <a16:creationId xmlns:a16="http://schemas.microsoft.com/office/drawing/2014/main" id="{F19EE3A9-AE02-6661-1109-7BC0933BC0D1}"/>
              </a:ext>
            </a:extLst>
          </p:cNvPr>
          <p:cNvSpPr/>
          <p:nvPr/>
        </p:nvSpPr>
        <p:spPr>
          <a:xfrm>
            <a:off x="208105" y="3931632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70%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Training</a:t>
            </a:r>
            <a:endParaRPr lang="en-US" sz="1200" dirty="0"/>
          </a:p>
        </p:txBody>
      </p:sp>
      <p:sp>
        <p:nvSpPr>
          <p:cNvPr id="84" name="Shape 20">
            <a:extLst>
              <a:ext uri="{FF2B5EF4-FFF2-40B4-BE49-F238E27FC236}">
                <a16:creationId xmlns:a16="http://schemas.microsoft.com/office/drawing/2014/main" id="{B51EEEFD-8B7F-6EC8-643C-5CD542554D45}"/>
              </a:ext>
            </a:extLst>
          </p:cNvPr>
          <p:cNvSpPr/>
          <p:nvPr/>
        </p:nvSpPr>
        <p:spPr>
          <a:xfrm>
            <a:off x="1639614" y="3931632"/>
            <a:ext cx="118872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21">
            <a:extLst>
              <a:ext uri="{FF2B5EF4-FFF2-40B4-BE49-F238E27FC236}">
                <a16:creationId xmlns:a16="http://schemas.microsoft.com/office/drawing/2014/main" id="{184E92CC-8243-E443-0030-A798DB3DE24C}"/>
              </a:ext>
            </a:extLst>
          </p:cNvPr>
          <p:cNvSpPr/>
          <p:nvPr/>
        </p:nvSpPr>
        <p:spPr>
          <a:xfrm>
            <a:off x="1639614" y="3892850"/>
            <a:ext cx="1188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15%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Validation</a:t>
            </a:r>
            <a:endParaRPr lang="en-US" sz="1200" dirty="0"/>
          </a:p>
        </p:txBody>
      </p:sp>
      <p:sp>
        <p:nvSpPr>
          <p:cNvPr id="86" name="Shape 22">
            <a:extLst>
              <a:ext uri="{FF2B5EF4-FFF2-40B4-BE49-F238E27FC236}">
                <a16:creationId xmlns:a16="http://schemas.microsoft.com/office/drawing/2014/main" id="{6556A818-7658-3FFA-4B39-0D897EA336C0}"/>
              </a:ext>
            </a:extLst>
          </p:cNvPr>
          <p:cNvSpPr/>
          <p:nvPr/>
        </p:nvSpPr>
        <p:spPr>
          <a:xfrm>
            <a:off x="2982433" y="3936587"/>
            <a:ext cx="1188720" cy="6858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23">
            <a:extLst>
              <a:ext uri="{FF2B5EF4-FFF2-40B4-BE49-F238E27FC236}">
                <a16:creationId xmlns:a16="http://schemas.microsoft.com/office/drawing/2014/main" id="{3EF4690B-6F5F-E397-0D4D-4BDA2CF6B547}"/>
              </a:ext>
            </a:extLst>
          </p:cNvPr>
          <p:cNvSpPr/>
          <p:nvPr/>
        </p:nvSpPr>
        <p:spPr>
          <a:xfrm>
            <a:off x="3017520" y="3959535"/>
            <a:ext cx="1153633" cy="7098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15%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Testing</a:t>
            </a:r>
            <a:endParaRPr lang="en-US" sz="1200" dirty="0"/>
          </a:p>
        </p:txBody>
      </p:sp>
      <p:sp>
        <p:nvSpPr>
          <p:cNvPr id="88" name="Text 17">
            <a:extLst>
              <a:ext uri="{FF2B5EF4-FFF2-40B4-BE49-F238E27FC236}">
                <a16:creationId xmlns:a16="http://schemas.microsoft.com/office/drawing/2014/main" id="{B28A757C-AA2C-4546-FA25-68022636280E}"/>
              </a:ext>
            </a:extLst>
          </p:cNvPr>
          <p:cNvSpPr/>
          <p:nvPr/>
        </p:nvSpPr>
        <p:spPr>
          <a:xfrm>
            <a:off x="274320" y="1101356"/>
            <a:ext cx="3857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</a:rPr>
              <a:t>DATASET COLLECTION</a:t>
            </a:r>
            <a:endParaRPr lang="en-US" sz="1100" dirty="0"/>
          </a:p>
        </p:txBody>
      </p:sp>
      <p:sp>
        <p:nvSpPr>
          <p:cNvPr id="89" name="Text 7">
            <a:extLst>
              <a:ext uri="{FF2B5EF4-FFF2-40B4-BE49-F238E27FC236}">
                <a16:creationId xmlns:a16="http://schemas.microsoft.com/office/drawing/2014/main" id="{55F128F0-0C3B-284F-2A8B-93DE15422A8C}"/>
              </a:ext>
            </a:extLst>
          </p:cNvPr>
          <p:cNvSpPr/>
          <p:nvPr/>
        </p:nvSpPr>
        <p:spPr>
          <a:xfrm>
            <a:off x="4937760" y="1340104"/>
            <a:ext cx="3749040" cy="30814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  <a:buSzPct val="100000"/>
            </a:pPr>
            <a:r>
              <a:rPr lang="en-US" sz="1600" b="1" dirty="0"/>
              <a:t>Data Security</a:t>
            </a:r>
          </a:p>
          <a:p>
            <a:pPr>
              <a:spcAft>
                <a:spcPts val="800"/>
              </a:spcAft>
              <a:buSzPct val="100000"/>
            </a:pPr>
            <a:r>
              <a:rPr lang="en-US" sz="1600" dirty="0"/>
              <a:t>Image data processed securely within the </a:t>
            </a:r>
            <a:r>
              <a:rPr lang="en-US" sz="1600" dirty="0" err="1"/>
              <a:t>PaddyGuard</a:t>
            </a:r>
            <a:r>
              <a:rPr lang="en-US" sz="1600" dirty="0"/>
              <a:t> AI system using protected cloud environments and secure API communication (HTTPS).</a:t>
            </a:r>
          </a:p>
          <a:p>
            <a:pPr>
              <a:spcAft>
                <a:spcPts val="800"/>
              </a:spcAft>
              <a:buSzPct val="100000"/>
            </a:pPr>
            <a:endParaRPr lang="en-US" sz="1600" dirty="0"/>
          </a:p>
          <a:p>
            <a:pPr>
              <a:spcAft>
                <a:spcPts val="800"/>
              </a:spcAft>
              <a:buSzPct val="100000"/>
            </a:pPr>
            <a:r>
              <a:rPr lang="en-US" sz="1600" b="1" dirty="0"/>
              <a:t>Ethical Considerations</a:t>
            </a:r>
            <a:r>
              <a:rPr lang="en-US" sz="1600" dirty="0"/>
              <a:t> </a:t>
            </a:r>
          </a:p>
          <a:p>
            <a:pPr>
              <a:spcAft>
                <a:spcPts val="800"/>
              </a:spcAft>
              <a:buSzPct val="100000"/>
            </a:pPr>
            <a:r>
              <a:rPr lang="en-US" sz="1600" dirty="0"/>
              <a:t>Only publicly available datasets are used with proper acknowledgment, and no personal or sensitive user data is collected.</a:t>
            </a:r>
          </a:p>
        </p:txBody>
      </p:sp>
      <p:sp>
        <p:nvSpPr>
          <p:cNvPr id="92" name="Shape 20">
            <a:extLst>
              <a:ext uri="{FF2B5EF4-FFF2-40B4-BE49-F238E27FC236}">
                <a16:creationId xmlns:a16="http://schemas.microsoft.com/office/drawing/2014/main" id="{FB949742-1547-0978-1BC2-8CFA3762EC43}"/>
              </a:ext>
            </a:extLst>
          </p:cNvPr>
          <p:cNvSpPr/>
          <p:nvPr/>
        </p:nvSpPr>
        <p:spPr>
          <a:xfrm rot="5400000">
            <a:off x="6743700" y="1087462"/>
            <a:ext cx="45720" cy="3840480"/>
          </a:xfrm>
          <a:prstGeom prst="rect">
            <a:avLst/>
          </a:prstGeom>
          <a:solidFill>
            <a:srgbClr val="52B788">
              <a:alpha val="60000"/>
            </a:srgbClr>
          </a:solidFill>
          <a:ln w="12700">
            <a:solidFill>
              <a:srgbClr val="52B7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>
            <a:extLst>
              <a:ext uri="{FF2B5EF4-FFF2-40B4-BE49-F238E27FC236}">
                <a16:creationId xmlns:a16="http://schemas.microsoft.com/office/drawing/2014/main" id="{6A67AF99-47BE-077A-8D30-E6B574276091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593BC6B6-7E34-3826-9667-F81EDF9313AE}"/>
              </a:ext>
            </a:extLst>
          </p:cNvPr>
          <p:cNvSpPr/>
          <p:nvPr/>
        </p:nvSpPr>
        <p:spPr>
          <a:xfrm>
            <a:off x="0" y="914400"/>
            <a:ext cx="9144000" cy="5486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FF51DF6D-FCCF-661F-B785-D48DAFDFBE4C}"/>
              </a:ext>
            </a:extLst>
          </p:cNvPr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System Overview &amp; Dependencies</a:t>
            </a:r>
            <a:endParaRPr lang="en-US" sz="3200" dirty="0">
              <a:latin typeface="+mj-lt"/>
            </a:endParaRPr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B90B663F-7D91-68DB-C8FC-300F07373E90}"/>
              </a:ext>
            </a:extLst>
          </p:cNvPr>
          <p:cNvSpPr/>
          <p:nvPr/>
        </p:nvSpPr>
        <p:spPr>
          <a:xfrm>
            <a:off x="8046720" y="9144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600" dirty="0"/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FA9D574E-75C2-E621-948F-640EE81ABB08}"/>
              </a:ext>
            </a:extLst>
          </p:cNvPr>
          <p:cNvSpPr/>
          <p:nvPr/>
        </p:nvSpPr>
        <p:spPr>
          <a:xfrm>
            <a:off x="4526280" y="1024128"/>
            <a:ext cx="45720" cy="3840480"/>
          </a:xfrm>
          <a:prstGeom prst="rect">
            <a:avLst/>
          </a:prstGeom>
          <a:solidFill>
            <a:srgbClr val="52B788">
              <a:alpha val="60000"/>
            </a:srgbClr>
          </a:solidFill>
          <a:ln w="12700">
            <a:solidFill>
              <a:srgbClr val="52B788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21">
            <a:extLst>
              <a:ext uri="{FF2B5EF4-FFF2-40B4-BE49-F238E27FC236}">
                <a16:creationId xmlns:a16="http://schemas.microsoft.com/office/drawing/2014/main" id="{499E3961-47ED-4664-700B-66CD876D924B}"/>
              </a:ext>
            </a:extLst>
          </p:cNvPr>
          <p:cNvSpPr/>
          <p:nvPr/>
        </p:nvSpPr>
        <p:spPr>
          <a:xfrm>
            <a:off x="228600" y="1041981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</a:rPr>
              <a:t>System Overview</a:t>
            </a:r>
            <a:endParaRPr lang="en-US" sz="1600" dirty="0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DCAC762C-33B6-3349-24C3-201AD6DF00B1}"/>
              </a:ext>
            </a:extLst>
          </p:cNvPr>
          <p:cNvSpPr/>
          <p:nvPr/>
        </p:nvSpPr>
        <p:spPr>
          <a:xfrm>
            <a:off x="228600" y="1480893"/>
            <a:ext cx="384048" cy="38404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23">
            <a:extLst>
              <a:ext uri="{FF2B5EF4-FFF2-40B4-BE49-F238E27FC236}">
                <a16:creationId xmlns:a16="http://schemas.microsoft.com/office/drawing/2014/main" id="{F9AE4816-EC1A-FA5F-C6B6-74CCD9B83DF5}"/>
              </a:ext>
            </a:extLst>
          </p:cNvPr>
          <p:cNvSpPr/>
          <p:nvPr/>
        </p:nvSpPr>
        <p:spPr>
          <a:xfrm>
            <a:off x="228600" y="148089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44" name="Shape 24">
            <a:extLst>
              <a:ext uri="{FF2B5EF4-FFF2-40B4-BE49-F238E27FC236}">
                <a16:creationId xmlns:a16="http://schemas.microsoft.com/office/drawing/2014/main" id="{B003FB9A-8316-FC30-D4D0-BC5DFBAA7F0F}"/>
              </a:ext>
            </a:extLst>
          </p:cNvPr>
          <p:cNvSpPr/>
          <p:nvPr/>
        </p:nvSpPr>
        <p:spPr>
          <a:xfrm>
            <a:off x="685800" y="1508325"/>
            <a:ext cx="36118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25">
            <a:extLst>
              <a:ext uri="{FF2B5EF4-FFF2-40B4-BE49-F238E27FC236}">
                <a16:creationId xmlns:a16="http://schemas.microsoft.com/office/drawing/2014/main" id="{221C3F4B-1EC6-77DB-45C7-CEA49AE0B81D}"/>
              </a:ext>
            </a:extLst>
          </p:cNvPr>
          <p:cNvSpPr/>
          <p:nvPr/>
        </p:nvSpPr>
        <p:spPr>
          <a:xfrm>
            <a:off x="731520" y="1508325"/>
            <a:ext cx="35204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Farmer uploads pest image     JPEG/PNG</a:t>
            </a:r>
            <a:endParaRPr lang="en-US" sz="1200" dirty="0"/>
          </a:p>
        </p:txBody>
      </p:sp>
      <p:sp>
        <p:nvSpPr>
          <p:cNvPr id="46" name="Shape 26">
            <a:extLst>
              <a:ext uri="{FF2B5EF4-FFF2-40B4-BE49-F238E27FC236}">
                <a16:creationId xmlns:a16="http://schemas.microsoft.com/office/drawing/2014/main" id="{A31EEABD-E813-5360-2822-7E0304B2088D}"/>
              </a:ext>
            </a:extLst>
          </p:cNvPr>
          <p:cNvSpPr/>
          <p:nvPr/>
        </p:nvSpPr>
        <p:spPr>
          <a:xfrm>
            <a:off x="374904" y="1864941"/>
            <a:ext cx="82296" cy="23774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27">
            <a:extLst>
              <a:ext uri="{FF2B5EF4-FFF2-40B4-BE49-F238E27FC236}">
                <a16:creationId xmlns:a16="http://schemas.microsoft.com/office/drawing/2014/main" id="{4C9C0BC5-2BB6-77D6-5E99-70923EA352D1}"/>
              </a:ext>
            </a:extLst>
          </p:cNvPr>
          <p:cNvSpPr/>
          <p:nvPr/>
        </p:nvSpPr>
        <p:spPr>
          <a:xfrm>
            <a:off x="228600" y="2139261"/>
            <a:ext cx="384048" cy="384048"/>
          </a:xfrm>
          <a:prstGeom prst="ellipse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28">
            <a:extLst>
              <a:ext uri="{FF2B5EF4-FFF2-40B4-BE49-F238E27FC236}">
                <a16:creationId xmlns:a16="http://schemas.microsoft.com/office/drawing/2014/main" id="{FC1B0D52-B62B-B9F1-CB32-21D54FBBF825}"/>
              </a:ext>
            </a:extLst>
          </p:cNvPr>
          <p:cNvSpPr/>
          <p:nvPr/>
        </p:nvSpPr>
        <p:spPr>
          <a:xfrm>
            <a:off x="228600" y="2139261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49" name="Shape 29">
            <a:extLst>
              <a:ext uri="{FF2B5EF4-FFF2-40B4-BE49-F238E27FC236}">
                <a16:creationId xmlns:a16="http://schemas.microsoft.com/office/drawing/2014/main" id="{79B5F97E-6364-88F1-DC38-B5079E53FA48}"/>
              </a:ext>
            </a:extLst>
          </p:cNvPr>
          <p:cNvSpPr/>
          <p:nvPr/>
        </p:nvSpPr>
        <p:spPr>
          <a:xfrm>
            <a:off x="685800" y="2166693"/>
            <a:ext cx="36118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0" name="Text 30">
            <a:extLst>
              <a:ext uri="{FF2B5EF4-FFF2-40B4-BE49-F238E27FC236}">
                <a16:creationId xmlns:a16="http://schemas.microsoft.com/office/drawing/2014/main" id="{8C6657B6-C49D-55AC-82BF-5ED6F01B904E}"/>
              </a:ext>
            </a:extLst>
          </p:cNvPr>
          <p:cNvSpPr/>
          <p:nvPr/>
        </p:nvSpPr>
        <p:spPr>
          <a:xfrm>
            <a:off x="731520" y="2166693"/>
            <a:ext cx="35204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Image preprocessed (OpenCV)</a:t>
            </a:r>
            <a:endParaRPr lang="en-US" sz="1200" dirty="0"/>
          </a:p>
        </p:txBody>
      </p:sp>
      <p:sp>
        <p:nvSpPr>
          <p:cNvPr id="51" name="Shape 31">
            <a:extLst>
              <a:ext uri="{FF2B5EF4-FFF2-40B4-BE49-F238E27FC236}">
                <a16:creationId xmlns:a16="http://schemas.microsoft.com/office/drawing/2014/main" id="{65923117-BFC4-76E6-1624-4FBD780373BD}"/>
              </a:ext>
            </a:extLst>
          </p:cNvPr>
          <p:cNvSpPr/>
          <p:nvPr/>
        </p:nvSpPr>
        <p:spPr>
          <a:xfrm>
            <a:off x="374904" y="2523309"/>
            <a:ext cx="82296" cy="23774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32">
            <a:extLst>
              <a:ext uri="{FF2B5EF4-FFF2-40B4-BE49-F238E27FC236}">
                <a16:creationId xmlns:a16="http://schemas.microsoft.com/office/drawing/2014/main" id="{AC550070-14DE-96DF-96DE-2D0F8D189021}"/>
              </a:ext>
            </a:extLst>
          </p:cNvPr>
          <p:cNvSpPr/>
          <p:nvPr/>
        </p:nvSpPr>
        <p:spPr>
          <a:xfrm>
            <a:off x="228600" y="2797629"/>
            <a:ext cx="384048" cy="384048"/>
          </a:xfrm>
          <a:prstGeom prst="ellipse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33">
            <a:extLst>
              <a:ext uri="{FF2B5EF4-FFF2-40B4-BE49-F238E27FC236}">
                <a16:creationId xmlns:a16="http://schemas.microsoft.com/office/drawing/2014/main" id="{DCE8DA04-1164-7C0F-79C0-2F2EC586DB38}"/>
              </a:ext>
            </a:extLst>
          </p:cNvPr>
          <p:cNvSpPr/>
          <p:nvPr/>
        </p:nvSpPr>
        <p:spPr>
          <a:xfrm>
            <a:off x="228600" y="279762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54" name="Shape 34">
            <a:extLst>
              <a:ext uri="{FF2B5EF4-FFF2-40B4-BE49-F238E27FC236}">
                <a16:creationId xmlns:a16="http://schemas.microsoft.com/office/drawing/2014/main" id="{1B23BD3A-6441-8B86-7C84-C4D0FC6B6A9C}"/>
              </a:ext>
            </a:extLst>
          </p:cNvPr>
          <p:cNvSpPr/>
          <p:nvPr/>
        </p:nvSpPr>
        <p:spPr>
          <a:xfrm>
            <a:off x="685800" y="2825061"/>
            <a:ext cx="36118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35">
            <a:extLst>
              <a:ext uri="{FF2B5EF4-FFF2-40B4-BE49-F238E27FC236}">
                <a16:creationId xmlns:a16="http://schemas.microsoft.com/office/drawing/2014/main" id="{E1F6F475-F413-6432-65F7-32E647798136}"/>
              </a:ext>
            </a:extLst>
          </p:cNvPr>
          <p:cNvSpPr/>
          <p:nvPr/>
        </p:nvSpPr>
        <p:spPr>
          <a:xfrm>
            <a:off x="731520" y="2825061"/>
            <a:ext cx="35204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Deep learning model analyzes</a:t>
            </a:r>
            <a:endParaRPr lang="en-US" sz="1200" dirty="0"/>
          </a:p>
        </p:txBody>
      </p:sp>
      <p:sp>
        <p:nvSpPr>
          <p:cNvPr id="56" name="Shape 36">
            <a:extLst>
              <a:ext uri="{FF2B5EF4-FFF2-40B4-BE49-F238E27FC236}">
                <a16:creationId xmlns:a16="http://schemas.microsoft.com/office/drawing/2014/main" id="{E1DAFF91-A185-E2F0-D6B9-315F06D7D512}"/>
              </a:ext>
            </a:extLst>
          </p:cNvPr>
          <p:cNvSpPr/>
          <p:nvPr/>
        </p:nvSpPr>
        <p:spPr>
          <a:xfrm>
            <a:off x="374904" y="3181677"/>
            <a:ext cx="82296" cy="23774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37">
            <a:extLst>
              <a:ext uri="{FF2B5EF4-FFF2-40B4-BE49-F238E27FC236}">
                <a16:creationId xmlns:a16="http://schemas.microsoft.com/office/drawing/2014/main" id="{82144344-6888-A8B5-EC58-2BF196C88ECE}"/>
              </a:ext>
            </a:extLst>
          </p:cNvPr>
          <p:cNvSpPr/>
          <p:nvPr/>
        </p:nvSpPr>
        <p:spPr>
          <a:xfrm>
            <a:off x="228600" y="3455997"/>
            <a:ext cx="384048" cy="38404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38">
            <a:extLst>
              <a:ext uri="{FF2B5EF4-FFF2-40B4-BE49-F238E27FC236}">
                <a16:creationId xmlns:a16="http://schemas.microsoft.com/office/drawing/2014/main" id="{BEED6177-6F0D-CD36-5370-8E5EA236D267}"/>
              </a:ext>
            </a:extLst>
          </p:cNvPr>
          <p:cNvSpPr/>
          <p:nvPr/>
        </p:nvSpPr>
        <p:spPr>
          <a:xfrm>
            <a:off x="228600" y="3455997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59" name="Shape 39">
            <a:extLst>
              <a:ext uri="{FF2B5EF4-FFF2-40B4-BE49-F238E27FC236}">
                <a16:creationId xmlns:a16="http://schemas.microsoft.com/office/drawing/2014/main" id="{5CF37DB3-E7A1-4B61-60AB-7FDD7BF01714}"/>
              </a:ext>
            </a:extLst>
          </p:cNvPr>
          <p:cNvSpPr/>
          <p:nvPr/>
        </p:nvSpPr>
        <p:spPr>
          <a:xfrm>
            <a:off x="685800" y="3483429"/>
            <a:ext cx="36118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40">
            <a:extLst>
              <a:ext uri="{FF2B5EF4-FFF2-40B4-BE49-F238E27FC236}">
                <a16:creationId xmlns:a16="http://schemas.microsoft.com/office/drawing/2014/main" id="{54BD110C-239A-5AA9-B839-02A73076D75A}"/>
              </a:ext>
            </a:extLst>
          </p:cNvPr>
          <p:cNvSpPr/>
          <p:nvPr/>
        </p:nvSpPr>
        <p:spPr>
          <a:xfrm>
            <a:off x="731520" y="3483429"/>
            <a:ext cx="35204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OOD check: known or unknown?</a:t>
            </a:r>
            <a:endParaRPr lang="en-US" sz="1200" dirty="0"/>
          </a:p>
        </p:txBody>
      </p:sp>
      <p:sp>
        <p:nvSpPr>
          <p:cNvPr id="61" name="Shape 41">
            <a:extLst>
              <a:ext uri="{FF2B5EF4-FFF2-40B4-BE49-F238E27FC236}">
                <a16:creationId xmlns:a16="http://schemas.microsoft.com/office/drawing/2014/main" id="{71F67A5D-974C-14CA-BAE2-FCF2A8C9E8EA}"/>
              </a:ext>
            </a:extLst>
          </p:cNvPr>
          <p:cNvSpPr/>
          <p:nvPr/>
        </p:nvSpPr>
        <p:spPr>
          <a:xfrm>
            <a:off x="374904" y="3840045"/>
            <a:ext cx="82296" cy="237744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42">
            <a:extLst>
              <a:ext uri="{FF2B5EF4-FFF2-40B4-BE49-F238E27FC236}">
                <a16:creationId xmlns:a16="http://schemas.microsoft.com/office/drawing/2014/main" id="{2036CE8C-D85E-9B5F-523A-FD78D5854BAD}"/>
              </a:ext>
            </a:extLst>
          </p:cNvPr>
          <p:cNvSpPr/>
          <p:nvPr/>
        </p:nvSpPr>
        <p:spPr>
          <a:xfrm>
            <a:off x="228600" y="4114365"/>
            <a:ext cx="384048" cy="384048"/>
          </a:xfrm>
          <a:prstGeom prst="ellipse">
            <a:avLst/>
          </a:prstGeom>
          <a:solidFill>
            <a:srgbClr val="145A32"/>
          </a:solidFill>
          <a:ln w="12700">
            <a:solidFill>
              <a:srgbClr val="145A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43">
            <a:extLst>
              <a:ext uri="{FF2B5EF4-FFF2-40B4-BE49-F238E27FC236}">
                <a16:creationId xmlns:a16="http://schemas.microsoft.com/office/drawing/2014/main" id="{2F236791-2407-7D7F-1EC5-6DAADB9C07C5}"/>
              </a:ext>
            </a:extLst>
          </p:cNvPr>
          <p:cNvSpPr/>
          <p:nvPr/>
        </p:nvSpPr>
        <p:spPr>
          <a:xfrm>
            <a:off x="228600" y="411436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64" name="Shape 44">
            <a:extLst>
              <a:ext uri="{FF2B5EF4-FFF2-40B4-BE49-F238E27FC236}">
                <a16:creationId xmlns:a16="http://schemas.microsoft.com/office/drawing/2014/main" id="{26071B46-A5C2-5872-CA39-4F3EE61B3BC8}"/>
              </a:ext>
            </a:extLst>
          </p:cNvPr>
          <p:cNvSpPr/>
          <p:nvPr/>
        </p:nvSpPr>
        <p:spPr>
          <a:xfrm>
            <a:off x="685800" y="4141797"/>
            <a:ext cx="361188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45">
            <a:extLst>
              <a:ext uri="{FF2B5EF4-FFF2-40B4-BE49-F238E27FC236}">
                <a16:creationId xmlns:a16="http://schemas.microsoft.com/office/drawing/2014/main" id="{7D788D7C-F2C2-F9C9-8019-2B80EED437A9}"/>
              </a:ext>
            </a:extLst>
          </p:cNvPr>
          <p:cNvSpPr/>
          <p:nvPr/>
        </p:nvSpPr>
        <p:spPr>
          <a:xfrm>
            <a:off x="731520" y="4141797"/>
            <a:ext cx="35204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4332"/>
                </a:solidFill>
              </a:rPr>
              <a:t>Result shown: pest name + score &amp; </a:t>
            </a:r>
            <a:r>
              <a:rPr lang="en-US" sz="1200" dirty="0" err="1">
                <a:solidFill>
                  <a:srgbClr val="1B4332"/>
                </a:solidFill>
              </a:rPr>
              <a:t>Clasification</a:t>
            </a:r>
            <a:endParaRPr lang="en-US" sz="1200" dirty="0"/>
          </a:p>
        </p:txBody>
      </p:sp>
      <p:sp>
        <p:nvSpPr>
          <p:cNvPr id="66" name="Shape 32">
            <a:extLst>
              <a:ext uri="{FF2B5EF4-FFF2-40B4-BE49-F238E27FC236}">
                <a16:creationId xmlns:a16="http://schemas.microsoft.com/office/drawing/2014/main" id="{AF3194FA-0F37-83A7-5951-1746CCF9A75E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7" name="Image 1" descr="preencoded.png">
            <a:extLst>
              <a:ext uri="{FF2B5EF4-FFF2-40B4-BE49-F238E27FC236}">
                <a16:creationId xmlns:a16="http://schemas.microsoft.com/office/drawing/2014/main" id="{51746F02-E130-2351-50CB-6ED3FE45C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4837176"/>
            <a:ext cx="1417320" cy="274320"/>
          </a:xfrm>
          <a:prstGeom prst="rect">
            <a:avLst/>
          </a:prstGeom>
        </p:spPr>
      </p:pic>
      <p:sp>
        <p:nvSpPr>
          <p:cNvPr id="68" name="Text 35">
            <a:extLst>
              <a:ext uri="{FF2B5EF4-FFF2-40B4-BE49-F238E27FC236}">
                <a16:creationId xmlns:a16="http://schemas.microsoft.com/office/drawing/2014/main" id="{5D9D378C-F07F-12A4-9F16-B254575B80F8}"/>
              </a:ext>
            </a:extLst>
          </p:cNvPr>
          <p:cNvSpPr/>
          <p:nvPr/>
        </p:nvSpPr>
        <p:spPr>
          <a:xfrm>
            <a:off x="1783080" y="48463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 dirty="0">
                <a:solidFill>
                  <a:srgbClr val="1B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IT22065858  |  KALHARA E P K |  R26-SE-015</a:t>
            </a:r>
            <a:endParaRPr lang="en-US" sz="900" dirty="0"/>
          </a:p>
        </p:txBody>
      </p:sp>
      <p:sp>
        <p:nvSpPr>
          <p:cNvPr id="70" name="Text 7">
            <a:extLst>
              <a:ext uri="{FF2B5EF4-FFF2-40B4-BE49-F238E27FC236}">
                <a16:creationId xmlns:a16="http://schemas.microsoft.com/office/drawing/2014/main" id="{11B6750C-44F4-9369-86C7-99E251A4999A}"/>
              </a:ext>
            </a:extLst>
          </p:cNvPr>
          <p:cNvSpPr/>
          <p:nvPr/>
        </p:nvSpPr>
        <p:spPr>
          <a:xfrm>
            <a:off x="5074920" y="1622760"/>
            <a:ext cx="3749040" cy="8648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/>
              <a:t>Shared dataset preparation.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/>
              <a:t>Google </a:t>
            </a:r>
            <a:r>
              <a:rPr lang="en-US" sz="1200" dirty="0" err="1"/>
              <a:t>Colab</a:t>
            </a:r>
            <a:r>
              <a:rPr lang="en-US" sz="1200" dirty="0"/>
              <a:t> GPU for model training.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/>
              <a:t>Integration with </a:t>
            </a:r>
            <a:r>
              <a:rPr lang="en-US" sz="1200" dirty="0" err="1"/>
              <a:t>PaddyGuard</a:t>
            </a:r>
            <a:r>
              <a:rPr lang="en-US" sz="1200" dirty="0"/>
              <a:t> AI system.</a:t>
            </a:r>
          </a:p>
        </p:txBody>
      </p:sp>
      <p:sp>
        <p:nvSpPr>
          <p:cNvPr id="71" name="Text 21">
            <a:extLst>
              <a:ext uri="{FF2B5EF4-FFF2-40B4-BE49-F238E27FC236}">
                <a16:creationId xmlns:a16="http://schemas.microsoft.com/office/drawing/2014/main" id="{2BEEB002-7827-8DB4-67AA-837D70330799}"/>
              </a:ext>
            </a:extLst>
          </p:cNvPr>
          <p:cNvSpPr/>
          <p:nvPr/>
        </p:nvSpPr>
        <p:spPr>
          <a:xfrm>
            <a:off x="4988314" y="2823578"/>
            <a:ext cx="20342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B4332"/>
                </a:solidFill>
              </a:rPr>
              <a:t>common components</a:t>
            </a:r>
            <a:endParaRPr lang="en-US" sz="1600" dirty="0"/>
          </a:p>
          <a:p>
            <a:r>
              <a:rPr lang="en-US" sz="1600" b="1" dirty="0">
                <a:solidFill>
                  <a:srgbClr val="1B4332"/>
                </a:solidFill>
              </a:rPr>
              <a:t> </a:t>
            </a:r>
            <a:endParaRPr lang="en-US" sz="1600" dirty="0"/>
          </a:p>
        </p:txBody>
      </p:sp>
      <p:sp>
        <p:nvSpPr>
          <p:cNvPr id="74" name="Text 21">
            <a:extLst>
              <a:ext uri="{FF2B5EF4-FFF2-40B4-BE49-F238E27FC236}">
                <a16:creationId xmlns:a16="http://schemas.microsoft.com/office/drawing/2014/main" id="{AE630300-68B8-4FD9-DE05-9F7D762FBB5B}"/>
              </a:ext>
            </a:extLst>
          </p:cNvPr>
          <p:cNvSpPr/>
          <p:nvPr/>
        </p:nvSpPr>
        <p:spPr>
          <a:xfrm>
            <a:off x="4988314" y="1224331"/>
            <a:ext cx="157707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B4332"/>
                </a:solidFill>
              </a:rPr>
              <a:t>Dependencies </a:t>
            </a:r>
            <a:endParaRPr lang="en-US" sz="1600" dirty="0"/>
          </a:p>
        </p:txBody>
      </p:sp>
      <p:sp>
        <p:nvSpPr>
          <p:cNvPr id="75" name="Text 7">
            <a:extLst>
              <a:ext uri="{FF2B5EF4-FFF2-40B4-BE49-F238E27FC236}">
                <a16:creationId xmlns:a16="http://schemas.microsoft.com/office/drawing/2014/main" id="{8AC96BBE-A1D9-D421-A227-ADAA10FA20F5}"/>
              </a:ext>
            </a:extLst>
          </p:cNvPr>
          <p:cNvSpPr/>
          <p:nvPr/>
        </p:nvSpPr>
        <p:spPr>
          <a:xfrm>
            <a:off x="5056631" y="3059934"/>
            <a:ext cx="3931920" cy="13504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/>
              <a:t>Shared agricultural datasets used for model training.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/>
              <a:t>Shared backend APIs for communication between components.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/>
              <a:t>Common data storage for symptoms, predictions, and farmer interactions.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320040" cy="50703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" y="73152"/>
            <a:ext cx="73152" cy="50703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2940" y="182880"/>
            <a:ext cx="6739128" cy="16768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latin typeface="+mj-lt"/>
              </a:rPr>
              <a:t>Treatment Advisory System and Agricultural Chatbot</a:t>
            </a:r>
          </a:p>
        </p:txBody>
      </p:sp>
      <p:sp>
        <p:nvSpPr>
          <p:cNvPr id="11" name="Shape 9"/>
          <p:cNvSpPr/>
          <p:nvPr/>
        </p:nvSpPr>
        <p:spPr>
          <a:xfrm>
            <a:off x="356616" y="1914545"/>
            <a:ext cx="59436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0064" y="2063658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latin typeface="+mj-lt"/>
              </a:rPr>
              <a:t>IT22303820  |   Keshan B K</a:t>
            </a:r>
            <a:br>
              <a:rPr lang="en-US" sz="1200" dirty="0"/>
            </a:br>
            <a:endParaRPr lang="en-US" sz="1200" dirty="0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F5BA5EE9-4F69-6A66-4D21-FD375216306F}"/>
              </a:ext>
            </a:extLst>
          </p:cNvPr>
          <p:cNvSpPr/>
          <p:nvPr/>
        </p:nvSpPr>
        <p:spPr>
          <a:xfrm>
            <a:off x="472940" y="2840185"/>
            <a:ext cx="54864" cy="71323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F6CD7FA9-B305-93F0-C0E9-38E16349607A}"/>
              </a:ext>
            </a:extLst>
          </p:cNvPr>
          <p:cNvSpPr/>
          <p:nvPr/>
        </p:nvSpPr>
        <p:spPr>
          <a:xfrm>
            <a:off x="655820" y="2840185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>
                    <a:lumMod val="75000"/>
                  </a:schemeClr>
                </a:solidFill>
              </a:rPr>
              <a:t>Contribution of your component to the overall solution</a:t>
            </a:r>
            <a:endParaRPr lang="en-US" sz="12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BA4A1487-29EB-39C8-DB9B-4C9084D62BF9}"/>
              </a:ext>
            </a:extLst>
          </p:cNvPr>
          <p:cNvSpPr/>
          <p:nvPr/>
        </p:nvSpPr>
        <p:spPr>
          <a:xfrm>
            <a:off x="655820" y="3050497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50" b="1" dirty="0"/>
              <a:t>Provides farmers with accurate treatment recommendations, pesticide dosage guidance, and preventive farming advice after rice disease or pest diagnosis using a knowledge-driven advisory system.</a:t>
            </a:r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C43360BC-D6BA-1DDB-22F1-B88DA36698A6}"/>
              </a:ext>
            </a:extLst>
          </p:cNvPr>
          <p:cNvSpPr/>
          <p:nvPr/>
        </p:nvSpPr>
        <p:spPr>
          <a:xfrm>
            <a:off x="472940" y="3708865"/>
            <a:ext cx="54864" cy="713232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2D0FD676-DCF2-877B-B595-AAD3866FAF41}"/>
              </a:ext>
            </a:extLst>
          </p:cNvPr>
          <p:cNvSpPr/>
          <p:nvPr/>
        </p:nvSpPr>
        <p:spPr>
          <a:xfrm>
            <a:off x="655820" y="3708865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bg2">
                    <a:lumMod val="75000"/>
                  </a:schemeClr>
                </a:solidFill>
              </a:rPr>
              <a:t>Novelty of your component</a:t>
            </a:r>
            <a:endParaRPr lang="en-US" sz="1200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86A5BBA4-7F84-5FA2-2108-E06E7CE5D750}"/>
              </a:ext>
            </a:extLst>
          </p:cNvPr>
          <p:cNvSpPr/>
          <p:nvPr/>
        </p:nvSpPr>
        <p:spPr>
          <a:xfrm>
            <a:off x="655820" y="3919177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50" b="1" dirty="0"/>
              <a:t>Introduces a RAG-based agricultural chatbot integrated with agricultural knowledge sources (IRRI, FAO) and rule-based validation to deliver safe, context-aware, and explainable treatment recommendations.</a:t>
            </a: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EDBC73D8-7710-2104-22F0-E2D4F0E83D03}"/>
              </a:ext>
            </a:extLst>
          </p:cNvPr>
          <p:cNvSpPr/>
          <p:nvPr/>
        </p:nvSpPr>
        <p:spPr>
          <a:xfrm>
            <a:off x="-52466" y="4919472"/>
            <a:ext cx="919646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41B95E9-AB82-20D8-F0AE-A8E611BDFE8A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9" name="Image 3" descr="preencoded.png">
            <a:extLst>
              <a:ext uri="{FF2B5EF4-FFF2-40B4-BE49-F238E27FC236}">
                <a16:creationId xmlns:a16="http://schemas.microsoft.com/office/drawing/2014/main" id="{0DD771B1-5D48-208B-58B0-8FCC660EA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28" y="4818888"/>
            <a:ext cx="1425452" cy="274320"/>
          </a:xfrm>
          <a:prstGeom prst="rect">
            <a:avLst/>
          </a:prstGeom>
        </p:spPr>
      </p:pic>
      <p:sp>
        <p:nvSpPr>
          <p:cNvPr id="30" name="Shape 28">
            <a:extLst>
              <a:ext uri="{FF2B5EF4-FFF2-40B4-BE49-F238E27FC236}">
                <a16:creationId xmlns:a16="http://schemas.microsoft.com/office/drawing/2014/main" id="{5FB86A88-2CF1-03FA-6D34-B3980D9AC2D0}"/>
              </a:ext>
            </a:extLst>
          </p:cNvPr>
          <p:cNvSpPr/>
          <p:nvPr/>
        </p:nvSpPr>
        <p:spPr>
          <a:xfrm>
            <a:off x="1645920" y="4846320"/>
            <a:ext cx="0" cy="228600"/>
          </a:xfrm>
          <a:prstGeom prst="line">
            <a:avLst/>
          </a:prstGeom>
          <a:noFill/>
          <a:ln w="1016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E8B3C98-3CC8-570E-FA30-2DDC20100B8B}"/>
              </a:ext>
            </a:extLst>
          </p:cNvPr>
          <p:cNvSpPr/>
          <p:nvPr/>
        </p:nvSpPr>
        <p:spPr>
          <a:xfrm>
            <a:off x="1754224" y="4828032"/>
            <a:ext cx="505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IT22303820  | Keshan B K  |  R26-SE-015</a:t>
            </a:r>
            <a:endParaRPr lang="en-US" sz="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E27D04-6BA0-4280-EE59-D767AB07DF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5551" y="146304"/>
            <a:ext cx="2325681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127416"/>
            <a:ext cx="73152" cy="469147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pPr lvl="6"/>
            <a:r>
              <a:rPr lang="en-US" sz="1200" dirty="0">
                <a:solidFill>
                  <a:schemeClr val="bg1"/>
                </a:solidFill>
              </a:rPr>
              <a:t>Treatment Advisory System and Agricultural Chatbot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694944"/>
            <a:ext cx="9144000" cy="5029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9028" y="72473"/>
            <a:ext cx="7772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+mj-lt"/>
              </a:rPr>
              <a:t>Problem And Research Objectives. </a:t>
            </a:r>
            <a:endParaRPr lang="en-US" sz="3200" dirty="0">
              <a:latin typeface="+mj-lt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8010" y="923544"/>
            <a:ext cx="4069080" cy="3374136"/>
          </a:xfrm>
          <a:prstGeom prst="rect">
            <a:avLst/>
          </a:prstGeom>
          <a:solidFill>
            <a:srgbClr val="2D6A4F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Problem Definition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68010" y="877824"/>
            <a:ext cx="4069080" cy="4572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32602" y="950976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587466" y="1341882"/>
            <a:ext cx="3566160" cy="2286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8886" y="1490132"/>
            <a:ext cx="370332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Existing agricultural AI systems mainly focus on disease detection rather than treatment guidance.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Farmers must search multiple sources to find the correct treatment methods.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Incorrect pesticide usage can cause crop damage and environmental risks.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Many systems provide generalized recommendations without considering crop conditions.</a:t>
            </a:r>
          </a:p>
        </p:txBody>
      </p:sp>
      <p:sp>
        <p:nvSpPr>
          <p:cNvPr id="13" name="Shape 11"/>
          <p:cNvSpPr/>
          <p:nvPr/>
        </p:nvSpPr>
        <p:spPr>
          <a:xfrm>
            <a:off x="4802850" y="923544"/>
            <a:ext cx="4069080" cy="3374136"/>
          </a:xfrm>
          <a:prstGeom prst="rect">
            <a:avLst/>
          </a:prstGeom>
          <a:solidFill>
            <a:srgbClr val="2D6A4F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</a:rPr>
              <a:t>Research Objectives.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802850" y="877824"/>
            <a:ext cx="4069080" cy="4572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67442" y="1348061"/>
            <a:ext cx="3566160" cy="22860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32602" y="2747592"/>
            <a:ext cx="3703320" cy="17529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8010" y="4358640"/>
            <a:ext cx="8503920" cy="347472"/>
          </a:xfrm>
          <a:prstGeom prst="rect">
            <a:avLst/>
          </a:prstGeom>
          <a:solidFill>
            <a:srgbClr val="2D6A4F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68010" y="4368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chemeClr val="bg1"/>
                </a:solidFill>
              </a:rPr>
              <a:t>Result: Farmers receive reliable treatment guidance and preventive farming advice, enabling faster and safer crop management decisions.</a:t>
            </a:r>
          </a:p>
        </p:txBody>
      </p:sp>
      <p:sp>
        <p:nvSpPr>
          <p:cNvPr id="24" name="Text 23">
            <a:extLst>
              <a:ext uri="{FF2B5EF4-FFF2-40B4-BE49-F238E27FC236}">
                <a16:creationId xmlns:a16="http://schemas.microsoft.com/office/drawing/2014/main" id="{BF0D7A73-2624-8FA7-50D9-8D85EEA98700}"/>
              </a:ext>
            </a:extLst>
          </p:cNvPr>
          <p:cNvSpPr/>
          <p:nvPr/>
        </p:nvSpPr>
        <p:spPr>
          <a:xfrm>
            <a:off x="-52466" y="4919472"/>
            <a:ext cx="919646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5" name="Shape 26">
            <a:extLst>
              <a:ext uri="{FF2B5EF4-FFF2-40B4-BE49-F238E27FC236}">
                <a16:creationId xmlns:a16="http://schemas.microsoft.com/office/drawing/2014/main" id="{A2E1D1DD-6193-A4E7-7CA3-6EC1A4020146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>
            <a:extLst>
              <a:ext uri="{FF2B5EF4-FFF2-40B4-BE49-F238E27FC236}">
                <a16:creationId xmlns:a16="http://schemas.microsoft.com/office/drawing/2014/main" id="{D8EC738F-DED7-1358-915F-3200525EC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28" y="4818888"/>
            <a:ext cx="1425452" cy="274320"/>
          </a:xfrm>
          <a:prstGeom prst="rect">
            <a:avLst/>
          </a:prstGeom>
        </p:spPr>
      </p:pic>
      <p:sp>
        <p:nvSpPr>
          <p:cNvPr id="27" name="Shape 28">
            <a:extLst>
              <a:ext uri="{FF2B5EF4-FFF2-40B4-BE49-F238E27FC236}">
                <a16:creationId xmlns:a16="http://schemas.microsoft.com/office/drawing/2014/main" id="{BF467A9F-6E26-2988-C19B-46755DA24974}"/>
              </a:ext>
            </a:extLst>
          </p:cNvPr>
          <p:cNvSpPr/>
          <p:nvPr/>
        </p:nvSpPr>
        <p:spPr>
          <a:xfrm>
            <a:off x="1645920" y="4846320"/>
            <a:ext cx="0" cy="228600"/>
          </a:xfrm>
          <a:prstGeom prst="line">
            <a:avLst/>
          </a:prstGeom>
          <a:noFill/>
          <a:ln w="1016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9">
            <a:extLst>
              <a:ext uri="{FF2B5EF4-FFF2-40B4-BE49-F238E27FC236}">
                <a16:creationId xmlns:a16="http://schemas.microsoft.com/office/drawing/2014/main" id="{F0935060-0CB4-8624-C1C9-739669457F7A}"/>
              </a:ext>
            </a:extLst>
          </p:cNvPr>
          <p:cNvSpPr/>
          <p:nvPr/>
        </p:nvSpPr>
        <p:spPr>
          <a:xfrm>
            <a:off x="1754224" y="4828032"/>
            <a:ext cx="505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IT22303820  |  Keshan B K  |  R26-SE-015</a:t>
            </a:r>
            <a:endParaRPr lang="en-US" sz="900" dirty="0"/>
          </a:p>
        </p:txBody>
      </p:sp>
      <p:sp>
        <p:nvSpPr>
          <p:cNvPr id="2" name="Text 10">
            <a:extLst>
              <a:ext uri="{FF2B5EF4-FFF2-40B4-BE49-F238E27FC236}">
                <a16:creationId xmlns:a16="http://schemas.microsoft.com/office/drawing/2014/main" id="{16AE10B9-193C-D433-E85D-4575C26F32DB}"/>
              </a:ext>
            </a:extLst>
          </p:cNvPr>
          <p:cNvSpPr/>
          <p:nvPr/>
        </p:nvSpPr>
        <p:spPr>
          <a:xfrm>
            <a:off x="4898862" y="1444572"/>
            <a:ext cx="3703320" cy="5996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3" name="Text 10">
            <a:extLst>
              <a:ext uri="{FF2B5EF4-FFF2-40B4-BE49-F238E27FC236}">
                <a16:creationId xmlns:a16="http://schemas.microsoft.com/office/drawing/2014/main" id="{CFAF9153-93B5-52B4-7D22-17A69A9F298E}"/>
              </a:ext>
            </a:extLst>
          </p:cNvPr>
          <p:cNvSpPr/>
          <p:nvPr/>
        </p:nvSpPr>
        <p:spPr>
          <a:xfrm>
            <a:off x="4985730" y="1485900"/>
            <a:ext cx="3703320" cy="26102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>
                <a:solidFill>
                  <a:schemeClr val="bg1"/>
                </a:solidFill>
              </a:rPr>
              <a:t>Develop a knowledge-driven treatment advisory system and agricultural chatbot that provides accurate treatment recommendations for rice diseases and pest infestations.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Build a structured agricultural knowledge dataset from IRRI, FAO, and </a:t>
            </a:r>
            <a:r>
              <a:rPr lang="en-US" sz="1400" dirty="0" err="1">
                <a:solidFill>
                  <a:schemeClr val="bg1"/>
                </a:solidFill>
              </a:rPr>
              <a:t>PlantVillage</a:t>
            </a:r>
            <a:r>
              <a:rPr lang="en-US" sz="1400" dirty="0">
                <a:solidFill>
                  <a:schemeClr val="bg1"/>
                </a:solidFill>
              </a:rPr>
              <a:t> 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Design and implement a knowledge-based treatment recommendation module.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Develop an NLP-based agricultural chatbot for farmer queries.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Integrate RAG to generate accurate advisory responses.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  <a:p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-14241" y="329784"/>
            <a:ext cx="87393" cy="4489104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14241" y="-2032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pPr lvl="6"/>
            <a:r>
              <a:rPr lang="en-US" sz="1200" dirty="0">
                <a:solidFill>
                  <a:schemeClr val="bg1"/>
                </a:solidFill>
              </a:rPr>
              <a:t>Treatment Advisory System and Agricultural Chatbot</a:t>
            </a:r>
          </a:p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0" y="694944"/>
            <a:ext cx="9144000" cy="5029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0"/>
            <a:ext cx="777240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+mj-lt"/>
              </a:rPr>
              <a:t>Methodology</a:t>
            </a:r>
          </a:p>
        </p:txBody>
      </p:sp>
      <p:sp>
        <p:nvSpPr>
          <p:cNvPr id="8" name="Shape 6"/>
          <p:cNvSpPr/>
          <p:nvPr/>
        </p:nvSpPr>
        <p:spPr>
          <a:xfrm>
            <a:off x="427970" y="900308"/>
            <a:ext cx="3794760" cy="3863950"/>
          </a:xfrm>
          <a:prstGeom prst="rect">
            <a:avLst/>
          </a:prstGeom>
          <a:solidFill>
            <a:srgbClr val="2D6A4F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27970" y="900309"/>
            <a:ext cx="3794760" cy="42062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65130" y="892814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Methodology</a:t>
            </a:r>
          </a:p>
        </p:txBody>
      </p:sp>
      <p:sp>
        <p:nvSpPr>
          <p:cNvPr id="11" name="Text 9"/>
          <p:cNvSpPr/>
          <p:nvPr/>
        </p:nvSpPr>
        <p:spPr>
          <a:xfrm>
            <a:off x="583418" y="1394085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>
              <a:solidFill>
                <a:srgbClr val="2D6A4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42770" y="900308"/>
            <a:ext cx="4251960" cy="3863949"/>
          </a:xfrm>
          <a:prstGeom prst="rect">
            <a:avLst/>
          </a:prstGeom>
          <a:solidFill>
            <a:srgbClr val="2D6A4F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542770" y="900309"/>
            <a:ext cx="4251960" cy="420624"/>
          </a:xfrm>
          <a:prstGeom prst="rect">
            <a:avLst/>
          </a:prstGeom>
          <a:solidFill>
            <a:srgbClr val="40916C"/>
          </a:solidFill>
          <a:ln w="1270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79930" y="900309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chemeClr val="bg1"/>
                </a:solidFill>
              </a:rPr>
              <a:t>Latest Technologies</a:t>
            </a:r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E661DF2F-396F-953B-2BEC-CBDB160A8D7C}"/>
              </a:ext>
            </a:extLst>
          </p:cNvPr>
          <p:cNvSpPr/>
          <p:nvPr/>
        </p:nvSpPr>
        <p:spPr>
          <a:xfrm>
            <a:off x="-52466" y="4919472"/>
            <a:ext cx="919646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8" name="Shape 26">
            <a:extLst>
              <a:ext uri="{FF2B5EF4-FFF2-40B4-BE49-F238E27FC236}">
                <a16:creationId xmlns:a16="http://schemas.microsoft.com/office/drawing/2014/main" id="{F780E7FA-0F5C-DA27-1F08-524684D61896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3" descr="preencoded.png">
            <a:extLst>
              <a:ext uri="{FF2B5EF4-FFF2-40B4-BE49-F238E27FC236}">
                <a16:creationId xmlns:a16="http://schemas.microsoft.com/office/drawing/2014/main" id="{319C3F5A-45E4-1B29-8631-E62C7532C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28" y="4818888"/>
            <a:ext cx="1425452" cy="274320"/>
          </a:xfrm>
          <a:prstGeom prst="rect">
            <a:avLst/>
          </a:prstGeom>
        </p:spPr>
      </p:pic>
      <p:sp>
        <p:nvSpPr>
          <p:cNvPr id="40" name="Shape 28">
            <a:extLst>
              <a:ext uri="{FF2B5EF4-FFF2-40B4-BE49-F238E27FC236}">
                <a16:creationId xmlns:a16="http://schemas.microsoft.com/office/drawing/2014/main" id="{F7F3D025-A16D-805C-D106-84B43F534CC3}"/>
              </a:ext>
            </a:extLst>
          </p:cNvPr>
          <p:cNvSpPr/>
          <p:nvPr/>
        </p:nvSpPr>
        <p:spPr>
          <a:xfrm>
            <a:off x="1645920" y="4846320"/>
            <a:ext cx="0" cy="228600"/>
          </a:xfrm>
          <a:prstGeom prst="line">
            <a:avLst/>
          </a:prstGeom>
          <a:noFill/>
          <a:ln w="1016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29">
            <a:extLst>
              <a:ext uri="{FF2B5EF4-FFF2-40B4-BE49-F238E27FC236}">
                <a16:creationId xmlns:a16="http://schemas.microsoft.com/office/drawing/2014/main" id="{4ABFCB50-9659-E93C-4CC2-8D16E57AA7EF}"/>
              </a:ext>
            </a:extLst>
          </p:cNvPr>
          <p:cNvSpPr/>
          <p:nvPr/>
        </p:nvSpPr>
        <p:spPr>
          <a:xfrm>
            <a:off x="1754224" y="4828032"/>
            <a:ext cx="505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IT22303820 | Keshan B K  |  R26-SE-015</a:t>
            </a:r>
            <a:endParaRPr lang="en-US" sz="900" dirty="0"/>
          </a:p>
        </p:txBody>
      </p:sp>
      <p:sp>
        <p:nvSpPr>
          <p:cNvPr id="36" name="Rectangle 6">
            <a:extLst>
              <a:ext uri="{FF2B5EF4-FFF2-40B4-BE49-F238E27FC236}">
                <a16:creationId xmlns:a16="http://schemas.microsoft.com/office/drawing/2014/main" id="{5F787BBD-DE5B-DB79-CB3E-1EE9595CF8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2415" y="1267895"/>
            <a:ext cx="3835022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React.js Web Interface</a:t>
            </a:r>
            <a:r>
              <a:rPr lang="en-US" sz="1400" dirty="0">
                <a:solidFill>
                  <a:schemeClr val="bg1"/>
                </a:solidFill>
              </a:rPr>
              <a:t> – allows farmers to interact with the advisory chatbot.</a:t>
            </a:r>
          </a:p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Node.js &amp; Express.js Backend API</a:t>
            </a:r>
            <a:r>
              <a:rPr lang="en-US" sz="1400" dirty="0">
                <a:solidFill>
                  <a:schemeClr val="bg1"/>
                </a:solidFill>
              </a:rPr>
              <a:t> – manages system communication and query processing.</a:t>
            </a:r>
          </a:p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chemeClr val="bg1"/>
                </a:solidFill>
              </a:rPr>
              <a:t>LangChain</a:t>
            </a:r>
            <a:r>
              <a:rPr lang="en-US" sz="1400" b="1" dirty="0">
                <a:solidFill>
                  <a:schemeClr val="bg1"/>
                </a:solidFill>
              </a:rPr>
              <a:t> / </a:t>
            </a:r>
            <a:r>
              <a:rPr lang="en-US" sz="1400" b="1" dirty="0" err="1">
                <a:solidFill>
                  <a:schemeClr val="bg1"/>
                </a:solidFill>
              </a:rPr>
              <a:t>HuggingFace</a:t>
            </a:r>
            <a:r>
              <a:rPr lang="en-US" sz="1400" b="1" dirty="0">
                <a:solidFill>
                  <a:schemeClr val="bg1"/>
                </a:solidFill>
              </a:rPr>
              <a:t> Transformers</a:t>
            </a:r>
            <a:r>
              <a:rPr lang="en-US" sz="1400" dirty="0">
                <a:solidFill>
                  <a:schemeClr val="bg1"/>
                </a:solidFill>
              </a:rPr>
              <a:t> – used for natural language processing and chatbot development.</a:t>
            </a:r>
          </a:p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Retrieval-Augmented Generation (RAG)</a:t>
            </a:r>
            <a:r>
              <a:rPr lang="en-US" sz="1400" dirty="0">
                <a:solidFill>
                  <a:schemeClr val="bg1"/>
                </a:solidFill>
              </a:rPr>
              <a:t> – retrieves relevant agricultural knowledge to generate accurate responses.</a:t>
            </a:r>
          </a:p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MongoDB Atlas</a:t>
            </a:r>
            <a:r>
              <a:rPr lang="en-US" sz="1400" dirty="0">
                <a:solidFill>
                  <a:schemeClr val="bg1"/>
                </a:solidFill>
              </a:rPr>
              <a:t> – stores agricultural knowledge datasets and treatment guidelines.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sp>
        <p:nvSpPr>
          <p:cNvPr id="43" name="Rectangle 8">
            <a:extLst>
              <a:ext uri="{FF2B5EF4-FFF2-40B4-BE49-F238E27FC236}">
                <a16:creationId xmlns:a16="http://schemas.microsoft.com/office/drawing/2014/main" id="{EA10E1A3-ED21-BF7C-990F-56E63D3F9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581" y="1233079"/>
            <a:ext cx="3794760" cy="363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56032" lvl="0" indent="-256032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Farmers submit queries or receive diagnosis results from disease or pest detection modules.</a:t>
            </a:r>
          </a:p>
          <a:p>
            <a:pPr marL="256032" lvl="0" indent="-256032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Natural Language Processing (NLP)</a:t>
            </a:r>
            <a:r>
              <a:rPr lang="en-US" sz="1400" dirty="0">
                <a:solidFill>
                  <a:schemeClr val="bg1"/>
                </a:solidFill>
              </a:rPr>
              <a:t> processes farmer queries and identifies important agricultural keywords.</a:t>
            </a:r>
          </a:p>
          <a:p>
            <a:pPr marL="256032" lvl="0" indent="-256032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Semantic search and knowledge retrieval</a:t>
            </a:r>
            <a:r>
              <a:rPr lang="en-US" sz="1400" dirty="0">
                <a:solidFill>
                  <a:schemeClr val="bg1"/>
                </a:solidFill>
              </a:rPr>
              <a:t> are used to find relevant treatment information from the agricultural knowledge base.</a:t>
            </a:r>
          </a:p>
          <a:p>
            <a:pPr marL="256032" lvl="0" indent="-256032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 </a:t>
            </a:r>
            <a:r>
              <a:rPr lang="en-US" sz="1400" b="1" dirty="0">
                <a:solidFill>
                  <a:schemeClr val="bg1"/>
                </a:solidFill>
              </a:rPr>
              <a:t>rule-based advisory engine</a:t>
            </a:r>
            <a:r>
              <a:rPr lang="en-US" sz="1400" dirty="0">
                <a:solidFill>
                  <a:schemeClr val="bg1"/>
                </a:solidFill>
              </a:rPr>
              <a:t> validates treatment recommendations based on agricultural guidelines.</a:t>
            </a:r>
          </a:p>
          <a:p>
            <a:pPr marL="256032" lvl="0" indent="-256032" eaLnBrk="0" fontAlgn="base" hangingPunct="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The final </a:t>
            </a:r>
            <a:r>
              <a:rPr lang="en-US" sz="1400" b="1" dirty="0">
                <a:solidFill>
                  <a:schemeClr val="bg1"/>
                </a:solidFill>
              </a:rPr>
              <a:t>treatment advice and preventive farming guidance</a:t>
            </a:r>
            <a:r>
              <a:rPr lang="en-US" sz="1400" dirty="0">
                <a:solidFill>
                  <a:schemeClr val="bg1"/>
                </a:solidFill>
              </a:rPr>
              <a:t> are delivered to farmers through the chatbot interface.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157396"/>
            <a:ext cx="73152" cy="4661491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pPr lvl="6"/>
            <a:r>
              <a:rPr lang="en-US" sz="1200" dirty="0">
                <a:solidFill>
                  <a:schemeClr val="bg1"/>
                </a:solidFill>
              </a:rPr>
              <a:t>Treatment Advisory System and Agricultural Chatbot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0" y="694944"/>
            <a:ext cx="9144000" cy="5029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17356"/>
            <a:ext cx="7772400" cy="477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chemeClr val="bg1"/>
                </a:solidFill>
                <a:latin typeface="+mj-lt"/>
              </a:rPr>
              <a:t>Validation And Data Availability</a:t>
            </a:r>
          </a:p>
        </p:txBody>
      </p:sp>
      <p:sp>
        <p:nvSpPr>
          <p:cNvPr id="59" name="Text 23">
            <a:extLst>
              <a:ext uri="{FF2B5EF4-FFF2-40B4-BE49-F238E27FC236}">
                <a16:creationId xmlns:a16="http://schemas.microsoft.com/office/drawing/2014/main" id="{85E7D40A-FD7A-7877-C50C-7B0192265751}"/>
              </a:ext>
            </a:extLst>
          </p:cNvPr>
          <p:cNvSpPr/>
          <p:nvPr/>
        </p:nvSpPr>
        <p:spPr>
          <a:xfrm>
            <a:off x="-52466" y="4919472"/>
            <a:ext cx="919646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60" name="Shape 26">
            <a:extLst>
              <a:ext uri="{FF2B5EF4-FFF2-40B4-BE49-F238E27FC236}">
                <a16:creationId xmlns:a16="http://schemas.microsoft.com/office/drawing/2014/main" id="{F103C3E5-2DCE-A889-64DB-F90BCFDCCC26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1" name="Image 3" descr="preencoded.png">
            <a:extLst>
              <a:ext uri="{FF2B5EF4-FFF2-40B4-BE49-F238E27FC236}">
                <a16:creationId xmlns:a16="http://schemas.microsoft.com/office/drawing/2014/main" id="{7AF57526-C1C2-505B-DF6C-0D7BFBE3C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28" y="4818888"/>
            <a:ext cx="1425452" cy="274320"/>
          </a:xfrm>
          <a:prstGeom prst="rect">
            <a:avLst/>
          </a:prstGeom>
        </p:spPr>
      </p:pic>
      <p:sp>
        <p:nvSpPr>
          <p:cNvPr id="62" name="Shape 28">
            <a:extLst>
              <a:ext uri="{FF2B5EF4-FFF2-40B4-BE49-F238E27FC236}">
                <a16:creationId xmlns:a16="http://schemas.microsoft.com/office/drawing/2014/main" id="{08E98938-9BA1-DF10-A3C4-A947704F054E}"/>
              </a:ext>
            </a:extLst>
          </p:cNvPr>
          <p:cNvSpPr/>
          <p:nvPr/>
        </p:nvSpPr>
        <p:spPr>
          <a:xfrm>
            <a:off x="1645920" y="4846320"/>
            <a:ext cx="0" cy="228600"/>
          </a:xfrm>
          <a:prstGeom prst="line">
            <a:avLst/>
          </a:prstGeom>
          <a:noFill/>
          <a:ln w="1016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29">
            <a:extLst>
              <a:ext uri="{FF2B5EF4-FFF2-40B4-BE49-F238E27FC236}">
                <a16:creationId xmlns:a16="http://schemas.microsoft.com/office/drawing/2014/main" id="{D4F10088-06BC-55FF-BCCA-48B22F691964}"/>
              </a:ext>
            </a:extLst>
          </p:cNvPr>
          <p:cNvSpPr/>
          <p:nvPr/>
        </p:nvSpPr>
        <p:spPr>
          <a:xfrm>
            <a:off x="1754224" y="4828032"/>
            <a:ext cx="505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IT22303820  | Keshan B K  |  R26-SE-015</a:t>
            </a:r>
            <a:endParaRPr lang="en-US" sz="900" dirty="0"/>
          </a:p>
        </p:txBody>
      </p:sp>
      <p:sp>
        <p:nvSpPr>
          <p:cNvPr id="58" name="Rectangle 1">
            <a:extLst>
              <a:ext uri="{FF2B5EF4-FFF2-40B4-BE49-F238E27FC236}">
                <a16:creationId xmlns:a16="http://schemas.microsoft.com/office/drawing/2014/main" id="{0ADE90B8-4792-AFCE-029D-FE6D63EA5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190" y="1115061"/>
            <a:ext cx="4076479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System performance evaluated using response accuracy, recommendation relevance, and response </a:t>
            </a:r>
            <a:r>
              <a:rPr lang="en-US" sz="1400" dirty="0" err="1"/>
              <a:t>time</a:t>
            </a:r>
            <a:r>
              <a:rPr kumimoji="0" lang="en-US" altLang="en-US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Compare</a:t>
            </a:r>
            <a:r>
              <a:rPr kumimoji="0" lang="en-US" altLang="en-US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performance between traditional ML models and transformer-based models.</a:t>
            </a:r>
          </a:p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Compare chatbot responses with agricultural guidelines from IRRI and FAO knowledge sources.</a:t>
            </a:r>
          </a:p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Conduct query testing using predefined agricultural questions related to rice diseases and pest management.</a:t>
            </a:r>
          </a:p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Evaluate the usability of the chatbot interface to ensure farmers can easily understand treatment recommendations.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4" name="Text 8">
            <a:extLst>
              <a:ext uri="{FF2B5EF4-FFF2-40B4-BE49-F238E27FC236}">
                <a16:creationId xmlns:a16="http://schemas.microsoft.com/office/drawing/2014/main" id="{89FDF7AE-5127-5836-C827-51844ADAD1A3}"/>
              </a:ext>
            </a:extLst>
          </p:cNvPr>
          <p:cNvSpPr/>
          <p:nvPr/>
        </p:nvSpPr>
        <p:spPr>
          <a:xfrm>
            <a:off x="393350" y="786332"/>
            <a:ext cx="35661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D4AC0D"/>
                </a:solidFill>
              </a:rPr>
              <a:t>Validation and Evaluation</a:t>
            </a:r>
          </a:p>
        </p:txBody>
      </p:sp>
      <p:sp>
        <p:nvSpPr>
          <p:cNvPr id="65" name="Text 8">
            <a:extLst>
              <a:ext uri="{FF2B5EF4-FFF2-40B4-BE49-F238E27FC236}">
                <a16:creationId xmlns:a16="http://schemas.microsoft.com/office/drawing/2014/main" id="{BDC48437-9FAD-8196-6575-B6A909655689}"/>
              </a:ext>
            </a:extLst>
          </p:cNvPr>
          <p:cNvSpPr/>
          <p:nvPr/>
        </p:nvSpPr>
        <p:spPr>
          <a:xfrm>
            <a:off x="4719794" y="806391"/>
            <a:ext cx="3666029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D4AC0D"/>
                </a:solidFill>
              </a:rPr>
              <a:t>Data Availability, Security Clearance</a:t>
            </a:r>
          </a:p>
        </p:txBody>
      </p:sp>
      <p:sp>
        <p:nvSpPr>
          <p:cNvPr id="66" name="Rectangle 1">
            <a:extLst>
              <a:ext uri="{FF2B5EF4-FFF2-40B4-BE49-F238E27FC236}">
                <a16:creationId xmlns:a16="http://schemas.microsoft.com/office/drawing/2014/main" id="{FD4A5C1E-0D61-5E13-E0DA-C594241A7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4171" y="1305036"/>
            <a:ext cx="4076479" cy="33393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Agricultural knowledge datasets collected from IRRI Rice Knowledge Bank, FAO Crop Protection Guidelines, and </a:t>
            </a:r>
            <a:r>
              <a:rPr lang="en-US" sz="1400" dirty="0" err="1"/>
              <a:t>PlantVillage</a:t>
            </a:r>
            <a:r>
              <a:rPr lang="en-US" sz="1400" dirty="0"/>
              <a:t> metadata.</a:t>
            </a:r>
          </a:p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Knowledge base stored securely using a </a:t>
            </a:r>
            <a:r>
              <a:rPr lang="en-US" sz="1400" b="1" dirty="0"/>
              <a:t>MongoDB database with restricted research access</a:t>
            </a:r>
            <a:r>
              <a:rPr lang="en-US" sz="1400" dirty="0"/>
              <a:t>.</a:t>
            </a:r>
          </a:p>
          <a:p>
            <a:pPr marL="17145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All system communications secured through </a:t>
            </a:r>
            <a:r>
              <a:rPr lang="en-US" sz="1400" b="1" dirty="0"/>
              <a:t>HTTPS and secure API protocols.</a:t>
            </a:r>
          </a:p>
          <a:p>
            <a:pPr marL="17145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293B"/>
                </a:solidFill>
              </a:rPr>
              <a:t>Conducted under SLIIT Research Ethics Committee guidelines.</a:t>
            </a:r>
            <a:endParaRPr lang="en-US" sz="1400" dirty="0"/>
          </a:p>
          <a:p>
            <a:pPr marL="17145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Farmer queries used for evaluation will be </a:t>
            </a:r>
            <a:r>
              <a:rPr lang="en-US" sz="1400" b="1" dirty="0"/>
              <a:t>anonymized to protect user privacy.</a:t>
            </a:r>
            <a:endParaRPr lang="en-US" sz="1200" dirty="0"/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1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7494"/>
            <a:ext cx="73152" cy="4820538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694944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  <p:txBody>
          <a:bodyPr/>
          <a:lstStyle/>
          <a:p>
            <a:pPr lvl="6"/>
            <a:r>
              <a:rPr lang="en-US" sz="1200" dirty="0">
                <a:solidFill>
                  <a:schemeClr val="bg1"/>
                </a:solidFill>
              </a:rPr>
              <a:t>Treatment Advisory System and Agricultural Chatbot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0" y="694944"/>
            <a:ext cx="9144000" cy="50292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7052" y="62566"/>
            <a:ext cx="77724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dirty="0">
                <a:solidFill>
                  <a:srgbClr val="FFFFFF"/>
                </a:solidFill>
                <a:latin typeface="+mj-lt"/>
              </a:rPr>
              <a:t>System Overview And </a:t>
            </a:r>
            <a:r>
              <a:rPr lang="en-US" sz="3200" dirty="0">
                <a:solidFill>
                  <a:schemeClr val="bg1"/>
                </a:solidFill>
                <a:latin typeface="+mj-lt"/>
              </a:rPr>
              <a:t>Dependencies</a:t>
            </a:r>
          </a:p>
        </p:txBody>
      </p:sp>
      <p:sp>
        <p:nvSpPr>
          <p:cNvPr id="40" name="Text 23">
            <a:extLst>
              <a:ext uri="{FF2B5EF4-FFF2-40B4-BE49-F238E27FC236}">
                <a16:creationId xmlns:a16="http://schemas.microsoft.com/office/drawing/2014/main" id="{C913210F-6B23-5B4C-57FB-4DA5CAC9BE9C}"/>
              </a:ext>
            </a:extLst>
          </p:cNvPr>
          <p:cNvSpPr/>
          <p:nvPr/>
        </p:nvSpPr>
        <p:spPr>
          <a:xfrm>
            <a:off x="-52466" y="4919472"/>
            <a:ext cx="919646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41" name="Shape 26">
            <a:extLst>
              <a:ext uri="{FF2B5EF4-FFF2-40B4-BE49-F238E27FC236}">
                <a16:creationId xmlns:a16="http://schemas.microsoft.com/office/drawing/2014/main" id="{C32698E4-320F-0487-C87E-0AB5D5DCD33F}"/>
              </a:ext>
            </a:extLst>
          </p:cNvPr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FFFFFF"/>
          </a:solidFill>
          <a:ln w="6350">
            <a:solidFill>
              <a:srgbClr val="E0DDD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2" name="Image 3" descr="preencoded.png">
            <a:extLst>
              <a:ext uri="{FF2B5EF4-FFF2-40B4-BE49-F238E27FC236}">
                <a16:creationId xmlns:a16="http://schemas.microsoft.com/office/drawing/2014/main" id="{3C8641E5-A69C-AC47-7ED9-692B7E180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28" y="4818888"/>
            <a:ext cx="1425452" cy="274320"/>
          </a:xfrm>
          <a:prstGeom prst="rect">
            <a:avLst/>
          </a:prstGeom>
        </p:spPr>
      </p:pic>
      <p:sp>
        <p:nvSpPr>
          <p:cNvPr id="43" name="Shape 28">
            <a:extLst>
              <a:ext uri="{FF2B5EF4-FFF2-40B4-BE49-F238E27FC236}">
                <a16:creationId xmlns:a16="http://schemas.microsoft.com/office/drawing/2014/main" id="{38F17A9D-D124-8687-A4DC-B6427281A40B}"/>
              </a:ext>
            </a:extLst>
          </p:cNvPr>
          <p:cNvSpPr/>
          <p:nvPr/>
        </p:nvSpPr>
        <p:spPr>
          <a:xfrm>
            <a:off x="1645920" y="4846320"/>
            <a:ext cx="0" cy="228600"/>
          </a:xfrm>
          <a:prstGeom prst="line">
            <a:avLst/>
          </a:prstGeom>
          <a:noFill/>
          <a:ln w="10160">
            <a:solidFill>
              <a:srgbClr val="4091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29">
            <a:extLst>
              <a:ext uri="{FF2B5EF4-FFF2-40B4-BE49-F238E27FC236}">
                <a16:creationId xmlns:a16="http://schemas.microsoft.com/office/drawing/2014/main" id="{D9C1509F-AB6D-25F8-98C2-09D614E1FFA2}"/>
              </a:ext>
            </a:extLst>
          </p:cNvPr>
          <p:cNvSpPr/>
          <p:nvPr/>
        </p:nvSpPr>
        <p:spPr>
          <a:xfrm>
            <a:off x="1754224" y="4828032"/>
            <a:ext cx="5058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2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IT22303820  | Keshan B K  |  R26-SE-015</a:t>
            </a:r>
            <a:endParaRPr lang="en-US" sz="900" dirty="0"/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731869BA-E900-8E9C-2B87-77FFB10719DF}"/>
              </a:ext>
            </a:extLst>
          </p:cNvPr>
          <p:cNvSpPr/>
          <p:nvPr/>
        </p:nvSpPr>
        <p:spPr>
          <a:xfrm>
            <a:off x="5685851" y="806455"/>
            <a:ext cx="3275352" cy="4000160"/>
          </a:xfrm>
          <a:prstGeom prst="rect">
            <a:avLst/>
          </a:prstGeom>
          <a:solidFill>
            <a:srgbClr val="2D6A4F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 sz="1100" dirty="0"/>
          </a:p>
          <a:p>
            <a:endParaRPr lang="en-US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Rice Disease Detection Module</a:t>
            </a:r>
            <a:r>
              <a:rPr lang="en-US" sz="1200" dirty="0">
                <a:solidFill>
                  <a:schemeClr val="bg1"/>
                </a:solidFill>
              </a:rPr>
              <a:t> provides disease prediction results to the advisory system.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Rice Pest Detection Module sends pest identification outputs for treatment recommendation.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Voice-Based Symptom Analysis Module</a:t>
            </a:r>
            <a:r>
              <a:rPr lang="en-US" sz="1200" dirty="0">
                <a:solidFill>
                  <a:schemeClr val="bg1"/>
                </a:solidFill>
              </a:rPr>
              <a:t> supplies symptom descriptions from the farmer’s voice input.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Backend API Server</a:t>
            </a:r>
            <a:r>
              <a:rPr lang="en-US" sz="1200" dirty="0">
                <a:solidFill>
                  <a:schemeClr val="bg1"/>
                </a:solidFill>
              </a:rPr>
              <a:t> connects the advisory system with other </a:t>
            </a:r>
            <a:r>
              <a:rPr lang="en-US" sz="1200" dirty="0" err="1">
                <a:solidFill>
                  <a:schemeClr val="bg1"/>
                </a:solidFill>
              </a:rPr>
              <a:t>PaddyGuard</a:t>
            </a:r>
            <a:r>
              <a:rPr lang="en-US" sz="1200" dirty="0">
                <a:solidFill>
                  <a:schemeClr val="bg1"/>
                </a:solidFill>
              </a:rPr>
              <a:t> AI components.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endParaRPr lang="en-US" sz="11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Shared agricultural datasets used for model training.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Shared backend APIs for communication between components.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Common web UI &amp; data storage for symptoms, predictions, and farmer interactions.</a:t>
            </a:r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3E2B348A-3946-768D-7E91-E7C431868FAB}"/>
              </a:ext>
            </a:extLst>
          </p:cNvPr>
          <p:cNvSpPr/>
          <p:nvPr/>
        </p:nvSpPr>
        <p:spPr>
          <a:xfrm>
            <a:off x="5681406" y="746894"/>
            <a:ext cx="3275352" cy="50416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21C99334-C74E-9A17-9C04-11BB6CB73CC3}"/>
              </a:ext>
            </a:extLst>
          </p:cNvPr>
          <p:cNvSpPr/>
          <p:nvPr/>
        </p:nvSpPr>
        <p:spPr>
          <a:xfrm>
            <a:off x="5729651" y="1516841"/>
            <a:ext cx="2980938" cy="6612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48" name="Shape 14">
            <a:extLst>
              <a:ext uri="{FF2B5EF4-FFF2-40B4-BE49-F238E27FC236}">
                <a16:creationId xmlns:a16="http://schemas.microsoft.com/office/drawing/2014/main" id="{9FCFD46C-A299-66EA-DB13-55FA6C1B2A2B}"/>
              </a:ext>
            </a:extLst>
          </p:cNvPr>
          <p:cNvSpPr/>
          <p:nvPr/>
        </p:nvSpPr>
        <p:spPr>
          <a:xfrm>
            <a:off x="5792882" y="1086178"/>
            <a:ext cx="3078924" cy="45719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0BA8ED72-6722-6179-8C31-4CCE74967B3C}"/>
              </a:ext>
            </a:extLst>
          </p:cNvPr>
          <p:cNvSpPr/>
          <p:nvPr/>
        </p:nvSpPr>
        <p:spPr>
          <a:xfrm>
            <a:off x="5792882" y="3443985"/>
            <a:ext cx="3078924" cy="45719"/>
          </a:xfrm>
          <a:prstGeom prst="rect">
            <a:avLst/>
          </a:prstGeom>
          <a:solidFill>
            <a:srgbClr val="D4AC0D"/>
          </a:solidFill>
          <a:ln w="12700">
            <a:solidFill>
              <a:srgbClr val="D4AC0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8">
            <a:extLst>
              <a:ext uri="{FF2B5EF4-FFF2-40B4-BE49-F238E27FC236}">
                <a16:creationId xmlns:a16="http://schemas.microsoft.com/office/drawing/2014/main" id="{0A97357A-A49E-3DA9-919C-082966BA6BF9}"/>
              </a:ext>
            </a:extLst>
          </p:cNvPr>
          <p:cNvSpPr/>
          <p:nvPr/>
        </p:nvSpPr>
        <p:spPr>
          <a:xfrm>
            <a:off x="5678085" y="751597"/>
            <a:ext cx="3566160" cy="41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Dependencies</a:t>
            </a:r>
            <a:endParaRPr lang="en-US" sz="1200" dirty="0"/>
          </a:p>
        </p:txBody>
      </p:sp>
      <p:sp>
        <p:nvSpPr>
          <p:cNvPr id="51" name="Text 8">
            <a:extLst>
              <a:ext uri="{FF2B5EF4-FFF2-40B4-BE49-F238E27FC236}">
                <a16:creationId xmlns:a16="http://schemas.microsoft.com/office/drawing/2014/main" id="{E3DAA3F7-16B7-40E7-3B2B-B76A513ED753}"/>
              </a:ext>
            </a:extLst>
          </p:cNvPr>
          <p:cNvSpPr/>
          <p:nvPr/>
        </p:nvSpPr>
        <p:spPr>
          <a:xfrm>
            <a:off x="5709243" y="3116753"/>
            <a:ext cx="3566160" cy="419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chemeClr val="bg1"/>
                </a:solidFill>
              </a:rPr>
              <a:t>Common Components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FAA36B-24B1-723F-A275-FBF42AF23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" y="752730"/>
            <a:ext cx="5604933" cy="406615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28AE21D0-111A-E015-E1A9-975505070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510" y="979506"/>
            <a:ext cx="4076479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solidFill>
                  <a:srgbClr val="D4AC0D"/>
                </a:solidFill>
              </a:rPr>
              <a:t>Target Market</a:t>
            </a:r>
          </a:p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Primary: Department of Agriculture &amp; extension services.</a:t>
            </a:r>
          </a:p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Secondary: Agricultural cooperatives, crop insurance, </a:t>
            </a:r>
            <a:r>
              <a:rPr lang="en-US" sz="1400" dirty="0" err="1"/>
              <a:t>agri</a:t>
            </a:r>
            <a:r>
              <a:rPr lang="en-US" sz="1400" dirty="0"/>
              <a:t>-input companies.</a:t>
            </a:r>
          </a:p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End Users: ~1.8M paddy farming households in Sri Lanka.</a:t>
            </a:r>
          </a:p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solidFill>
                  <a:srgbClr val="D4AC0D"/>
                </a:solidFill>
              </a:rPr>
              <a:t>Commercialization</a:t>
            </a:r>
          </a:p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Government licensing as national agricultural advisory tool.</a:t>
            </a:r>
          </a:p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API integration for </a:t>
            </a:r>
            <a:r>
              <a:rPr lang="en-US" sz="1400" dirty="0" err="1"/>
              <a:t>agri</a:t>
            </a:r>
            <a:r>
              <a:rPr lang="en-US" sz="1400" dirty="0"/>
              <a:t>-input companies.</a:t>
            </a:r>
          </a:p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Grants &amp; SaaS analytics for cooperatives and regional expansion.</a:t>
            </a:r>
            <a:endParaRPr kumimoji="0" lang="en-US" altLang="en-US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D873D8-D9E5-C73E-E08D-85006B842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521" y="1775346"/>
            <a:ext cx="4076479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ts val="600"/>
              </a:spcBef>
              <a:spcAft>
                <a:spcPts val="600"/>
              </a:spcAft>
            </a:pPr>
            <a:r>
              <a:rPr lang="en-US" sz="1400" b="1" dirty="0">
                <a:solidFill>
                  <a:srgbClr val="D4AC0D"/>
                </a:solidFill>
              </a:rPr>
              <a:t>Value Proposition</a:t>
            </a:r>
          </a:p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Farmers: Instant Sinhala voice-based disease diagnosis &amp; treatment advice.</a:t>
            </a:r>
          </a:p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Government: Scalable digital advisory for rural farmers.</a:t>
            </a:r>
          </a:p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Agri Companies: Targeted product recommendations at diagnosis stage.</a:t>
            </a:r>
          </a:p>
          <a:p>
            <a:pPr marL="171450" lvl="0" indent="-171450" eaLnBrk="0" fontAlgn="base" hangingPunc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Society: Reduced crop losses and improved food security.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8BECBDD9-8EEE-348D-F31E-1A6B50F501EF}"/>
              </a:ext>
            </a:extLst>
          </p:cNvPr>
          <p:cNvSpPr txBox="1"/>
          <p:nvPr/>
        </p:nvSpPr>
        <p:spPr>
          <a:xfrm>
            <a:off x="170759" y="136495"/>
            <a:ext cx="8706230" cy="142315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ts val="6999"/>
              </a:lnSpc>
            </a:pPr>
            <a:r>
              <a:rPr lang="en-US" sz="3200" b="1" dirty="0">
                <a:ea typeface="Impact"/>
                <a:cs typeface="Impact"/>
                <a:sym typeface="Impact"/>
              </a:rPr>
              <a:t>Market, Value Proposition And </a:t>
            </a:r>
          </a:p>
          <a:p>
            <a:pPr>
              <a:lnSpc>
                <a:spcPts val="6999"/>
              </a:lnSpc>
            </a:pPr>
            <a:r>
              <a:rPr lang="en-US" sz="3200" b="1" dirty="0">
                <a:ea typeface="Impact"/>
                <a:cs typeface="Impact"/>
                <a:sym typeface="Impact"/>
              </a:rPr>
              <a:t>Commercialization</a:t>
            </a:r>
          </a:p>
        </p:txBody>
      </p:sp>
    </p:spTree>
    <p:extLst>
      <p:ext uri="{BB962C8B-B14F-4D97-AF65-F5344CB8AC3E}">
        <p14:creationId xmlns:p14="http://schemas.microsoft.com/office/powerpoint/2010/main" val="21190402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>
            <a:extLst>
              <a:ext uri="{FF2B5EF4-FFF2-40B4-BE49-F238E27FC236}">
                <a16:creationId xmlns:a16="http://schemas.microsoft.com/office/drawing/2014/main" id="{F6EA62A9-209F-6A4C-A511-CBF8D3051CEC}"/>
              </a:ext>
            </a:extLst>
          </p:cNvPr>
          <p:cNvSpPr txBox="1"/>
          <p:nvPr/>
        </p:nvSpPr>
        <p:spPr>
          <a:xfrm>
            <a:off x="324761" y="182879"/>
            <a:ext cx="6355170" cy="59712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ts val="6999"/>
              </a:lnSpc>
            </a:pPr>
            <a:r>
              <a:rPr lang="en-US" sz="3600" b="1" dirty="0"/>
              <a:t>Gantt Chart</a:t>
            </a:r>
            <a:endParaRPr lang="en-US" sz="3600" b="1" dirty="0">
              <a:ea typeface="Impact"/>
              <a:cs typeface="Impact"/>
              <a:sym typeface="Impac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2B998E-B505-D367-0A04-DB062D9E27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635" y="780001"/>
            <a:ext cx="8335478" cy="402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8929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555FD5-9163-EFD7-209B-3C2F32E693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463" y="593758"/>
            <a:ext cx="5926568" cy="3955983"/>
          </a:xfrm>
          <a:prstGeom prst="rect">
            <a:avLst/>
          </a:prstGeom>
        </p:spPr>
      </p:pic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00075" y="1118507"/>
            <a:ext cx="2500312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0">
            <a:extLst>
              <a:ext uri="{FF2B5EF4-FFF2-40B4-BE49-F238E27FC236}">
                <a16:creationId xmlns:a16="http://schemas.microsoft.com/office/drawing/2014/main" id="{63988E68-C6D4-6E69-63CB-A74913897D0D}"/>
              </a:ext>
            </a:extLst>
          </p:cNvPr>
          <p:cNvSpPr txBox="1"/>
          <p:nvPr/>
        </p:nvSpPr>
        <p:spPr>
          <a:xfrm>
            <a:off x="694525" y="1475449"/>
            <a:ext cx="2112938" cy="191044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kern="1200" dirty="0">
                <a:solidFill>
                  <a:srgbClr val="FFFFFF"/>
                </a:solidFill>
                <a:ea typeface="+mj-ea"/>
                <a:cs typeface="+mj-cs"/>
              </a:rPr>
              <a:t>Work breakdown structure</a:t>
            </a:r>
            <a:endParaRPr lang="en-US" sz="3200" b="1" kern="1200" dirty="0">
              <a:solidFill>
                <a:srgbClr val="FFFFFF"/>
              </a:solidFill>
              <a:ea typeface="+mj-ea"/>
              <a:cs typeface="+mj-cs"/>
              <a:sym typeface="Impact"/>
            </a:endParaRPr>
          </a:p>
        </p:txBody>
      </p:sp>
    </p:spTree>
    <p:extLst>
      <p:ext uri="{BB962C8B-B14F-4D97-AF65-F5344CB8AC3E}">
        <p14:creationId xmlns:p14="http://schemas.microsoft.com/office/powerpoint/2010/main" val="5494254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-702482"/>
            <a:ext cx="9144000" cy="3714750"/>
          </a:xfrm>
          <a:custGeom>
            <a:avLst/>
            <a:gdLst/>
            <a:ahLst/>
            <a:cxnLst/>
            <a:rect l="l" t="t" r="r" b="b"/>
            <a:pathLst>
              <a:path w="18288000" h="7429500">
                <a:moveTo>
                  <a:pt x="18288000" y="0"/>
                </a:moveTo>
                <a:lnTo>
                  <a:pt x="0" y="0"/>
                </a:lnTo>
                <a:lnTo>
                  <a:pt x="0" y="7429500"/>
                </a:lnTo>
                <a:lnTo>
                  <a:pt x="18288000" y="74295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" name="Freeform 3"/>
          <p:cNvSpPr/>
          <p:nvPr/>
        </p:nvSpPr>
        <p:spPr>
          <a:xfrm flipV="1">
            <a:off x="6525929" y="-702482"/>
            <a:ext cx="2618072" cy="2656410"/>
          </a:xfrm>
          <a:custGeom>
            <a:avLst/>
            <a:gdLst/>
            <a:ahLst/>
            <a:cxnLst/>
            <a:rect l="l" t="t" r="r" b="b"/>
            <a:pathLst>
              <a:path w="3601452" h="3520419">
                <a:moveTo>
                  <a:pt x="0" y="3520419"/>
                </a:moveTo>
                <a:lnTo>
                  <a:pt x="3601452" y="3520419"/>
                </a:lnTo>
                <a:lnTo>
                  <a:pt x="3601452" y="0"/>
                </a:lnTo>
                <a:lnTo>
                  <a:pt x="0" y="0"/>
                </a:lnTo>
                <a:lnTo>
                  <a:pt x="0" y="352041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4" name="Freeform 4"/>
          <p:cNvSpPr/>
          <p:nvPr/>
        </p:nvSpPr>
        <p:spPr>
          <a:xfrm>
            <a:off x="3663065" y="-1177295"/>
            <a:ext cx="2115579" cy="2057400"/>
          </a:xfrm>
          <a:custGeom>
            <a:avLst/>
            <a:gdLst/>
            <a:ahLst/>
            <a:cxnLst/>
            <a:rect l="l" t="t" r="r" b="b"/>
            <a:pathLst>
              <a:path w="4231157" h="4114800">
                <a:moveTo>
                  <a:pt x="0" y="0"/>
                </a:moveTo>
                <a:lnTo>
                  <a:pt x="4231157" y="0"/>
                </a:lnTo>
                <a:lnTo>
                  <a:pt x="423115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grpSp>
        <p:nvGrpSpPr>
          <p:cNvPr id="5" name="Group 5"/>
          <p:cNvGrpSpPr/>
          <p:nvPr/>
        </p:nvGrpSpPr>
        <p:grpSpPr>
          <a:xfrm>
            <a:off x="3187233" y="4288676"/>
            <a:ext cx="5442417" cy="544241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823"/>
            </a:solidFill>
          </p:spPr>
          <p:txBody>
            <a:bodyPr/>
            <a:lstStyle/>
            <a:p>
              <a:endParaRPr lang="en-US" sz="90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900"/>
            </a:p>
          </p:txBody>
        </p:sp>
      </p:grpSp>
      <p:sp>
        <p:nvSpPr>
          <p:cNvPr id="8" name="Freeform 8"/>
          <p:cNvSpPr/>
          <p:nvPr/>
        </p:nvSpPr>
        <p:spPr>
          <a:xfrm>
            <a:off x="7974774" y="4528823"/>
            <a:ext cx="1957610" cy="100328"/>
          </a:xfrm>
          <a:custGeom>
            <a:avLst/>
            <a:gdLst/>
            <a:ahLst/>
            <a:cxnLst/>
            <a:rect l="l" t="t" r="r" b="b"/>
            <a:pathLst>
              <a:path w="3915220" h="200655">
                <a:moveTo>
                  <a:pt x="0" y="0"/>
                </a:moveTo>
                <a:lnTo>
                  <a:pt x="3915220" y="0"/>
                </a:lnTo>
                <a:lnTo>
                  <a:pt x="3915220" y="200655"/>
                </a:lnTo>
                <a:lnTo>
                  <a:pt x="0" y="2006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9" name="TextBox 9"/>
          <p:cNvSpPr txBox="1"/>
          <p:nvPr/>
        </p:nvSpPr>
        <p:spPr>
          <a:xfrm>
            <a:off x="4441636" y="2532868"/>
            <a:ext cx="3728635" cy="849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250"/>
              </a:lnSpc>
            </a:pPr>
            <a:r>
              <a:rPr lang="en-US" sz="6600" b="1" dirty="0">
                <a:solidFill>
                  <a:srgbClr val="2D4F2B"/>
                </a:solidFill>
                <a:ea typeface="Impact"/>
                <a:cs typeface="Impact"/>
                <a:sym typeface="Impact"/>
              </a:rPr>
              <a:t>Thank You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0C1B453-01BF-CF7E-07C4-5655D6DB17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4732" y="-288758"/>
            <a:ext cx="2893219" cy="51435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3080</Words>
  <Application>Microsoft Office PowerPoint</Application>
  <PresentationFormat>On-screen Show (16:9)</PresentationFormat>
  <Paragraphs>413</Paragraphs>
  <Slides>31</Slides>
  <Notes>20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7" baseType="lpstr">
      <vt:lpstr>Arial</vt:lpstr>
      <vt:lpstr>Calibri</vt:lpstr>
      <vt:lpstr>Gadugi</vt:lpstr>
      <vt:lpstr>Impact</vt:lpstr>
      <vt:lpstr>Proxima Nova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PaddyGuard AI - Voice-Based Rice Disease Diagnosis</dc:title>
  <dc:subject>PptxGenJS Presentation</dc:subject>
  <dc:creator>PptxGenJS</dc:creator>
  <cp:lastModifiedBy>WEERASINGHE KGJP it22273680</cp:lastModifiedBy>
  <cp:revision>16</cp:revision>
  <dcterms:created xsi:type="dcterms:W3CDTF">2026-03-15T08:41:27Z</dcterms:created>
  <dcterms:modified xsi:type="dcterms:W3CDTF">2026-03-15T20:15:39Z</dcterms:modified>
</cp:coreProperties>
</file>